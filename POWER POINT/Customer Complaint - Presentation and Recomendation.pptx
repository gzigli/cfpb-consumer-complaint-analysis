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6" r:id="rId4"/>
  </p:sldMasterIdLst>
  <p:notesMasterIdLst>
    <p:notesMasterId r:id="rId20"/>
  </p:notesMasterIdLst>
  <p:handoutMasterIdLst>
    <p:handoutMasterId r:id="rId21"/>
  </p:handoutMasterIdLst>
  <p:sldIdLst>
    <p:sldId id="1497" r:id="rId5"/>
    <p:sldId id="1498" r:id="rId6"/>
    <p:sldId id="1499" r:id="rId7"/>
    <p:sldId id="1500" r:id="rId8"/>
    <p:sldId id="1514" r:id="rId9"/>
    <p:sldId id="1515" r:id="rId10"/>
    <p:sldId id="1502" r:id="rId11"/>
    <p:sldId id="1503" r:id="rId12"/>
    <p:sldId id="1505" r:id="rId13"/>
    <p:sldId id="1516" r:id="rId14"/>
    <p:sldId id="1506" r:id="rId15"/>
    <p:sldId id="1517" r:id="rId16"/>
    <p:sldId id="1520" r:id="rId17"/>
    <p:sldId id="1519" r:id="rId18"/>
    <p:sldId id="151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  <p188:author id="{E2AFCBE2-96AD-378F-B4C9-6D94B252CA9F}" name="Kaila Orsucci (ANDERSEN CONSULTANTS LLC)" initials="KO" userId="S::v-kaiorsucci@microsoft.com::6b53eb50-4ec2-4e76-8ec7-518784d2a6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CE7"/>
    <a:srgbClr val="212121"/>
    <a:srgbClr val="E9E5D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DBFF5B-858D-41CB-A480-6619647E2F50}" v="1" dt="2026-05-19T17:28:22.8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68"/>
  </p:normalViewPr>
  <p:slideViewPr>
    <p:cSldViewPr snapToGrid="0">
      <p:cViewPr varScale="1">
        <p:scale>
          <a:sx n="74" d="100"/>
          <a:sy n="74" d="100"/>
        </p:scale>
        <p:origin x="7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9D005A-EF78-4DC8-A9B0-7B54127FABB3}" type="doc">
      <dgm:prSet loTypeId="urn:microsoft.com/office/officeart/2005/8/layout/list1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C6C0E93-31C2-4367-9734-22A77E91F852}">
      <dgm:prSet phldrT="[Text]"/>
      <dgm:spPr/>
      <dgm:t>
        <a:bodyPr/>
        <a:lstStyle/>
        <a:p>
          <a:pPr>
            <a:defRPr b="1"/>
          </a:pPr>
          <a:r>
            <a:rPr lang="en-US" b="1" i="0">
              <a:latin typeface="Avenir Next LT Pro Demi" panose="020B0704020202020204" pitchFamily="34" charset="0"/>
            </a:rPr>
            <a:t>Reduced complaint concentration</a:t>
          </a:r>
        </a:p>
      </dgm:t>
    </dgm:pt>
    <dgm:pt modelId="{8C6185DB-C15F-4142-9FFC-06798EBB4FD3}" type="parTrans" cxnId="{380048F8-519C-4DF3-983E-65F199CAF07C}">
      <dgm:prSet/>
      <dgm:spPr/>
      <dgm:t>
        <a:bodyPr/>
        <a:lstStyle/>
        <a:p>
          <a:endParaRPr lang="en-US" sz="1600" b="0" i="0">
            <a:latin typeface="+mn-lt"/>
          </a:endParaRPr>
        </a:p>
      </dgm:t>
    </dgm:pt>
    <dgm:pt modelId="{57C15597-8730-4C5E-950A-E3E94A8A5729}" type="sibTrans" cxnId="{380048F8-519C-4DF3-983E-65F199CAF07C}">
      <dgm:prSet/>
      <dgm:spPr/>
      <dgm:t>
        <a:bodyPr/>
        <a:lstStyle/>
        <a:p>
          <a:pPr>
            <a:defRPr b="1"/>
          </a:pPr>
          <a:endParaRPr lang="en-US" b="0" i="0">
            <a:latin typeface="+mn-lt"/>
          </a:endParaRPr>
        </a:p>
      </dgm:t>
    </dgm:pt>
    <dgm:pt modelId="{5DC4A6D3-8F5B-462C-98E5-9DBA04B5F5C0}">
      <dgm:prSet/>
      <dgm:spPr/>
      <dgm:t>
        <a:bodyPr/>
        <a:lstStyle/>
        <a:p>
          <a:r>
            <a:rPr lang="en-US" b="0" i="0">
              <a:latin typeface="+mn-lt"/>
            </a:rPr>
            <a:t>Reduced complaint concentration in debt collection operations. Lower dispute rates and improved customer satisfaction.</a:t>
          </a:r>
        </a:p>
      </dgm:t>
    </dgm:pt>
    <dgm:pt modelId="{05AC1DA1-5915-400C-AA8A-59903F7D8430}" type="parTrans" cxnId="{B8CDC488-4F8D-4EF9-86AB-BC5EDA02D830}">
      <dgm:prSet/>
      <dgm:spPr/>
      <dgm:t>
        <a:bodyPr/>
        <a:lstStyle/>
        <a:p>
          <a:endParaRPr lang="en-US" sz="1600" b="0" i="0">
            <a:latin typeface="+mn-lt"/>
          </a:endParaRPr>
        </a:p>
      </dgm:t>
    </dgm:pt>
    <dgm:pt modelId="{EBE04370-C115-496A-829B-022F025D9929}" type="sibTrans" cxnId="{B8CDC488-4F8D-4EF9-86AB-BC5EDA02D830}">
      <dgm:prSet/>
      <dgm:spPr/>
      <dgm:t>
        <a:bodyPr/>
        <a:lstStyle/>
        <a:p>
          <a:endParaRPr lang="en-US" b="0" i="0">
            <a:latin typeface="+mn-lt"/>
          </a:endParaRPr>
        </a:p>
      </dgm:t>
    </dgm:pt>
    <dgm:pt modelId="{6683C677-89E1-4E18-8444-F8D0F9174767}">
      <dgm:prSet/>
      <dgm:spPr/>
      <dgm:t>
        <a:bodyPr/>
        <a:lstStyle/>
        <a:p>
          <a:pPr>
            <a:defRPr b="1"/>
          </a:pPr>
          <a:r>
            <a:rPr lang="en-US" b="1" i="0">
              <a:latin typeface="Avenir Next LT Pro Demi" panose="020B0704020202020204" pitchFamily="34" charset="0"/>
            </a:rPr>
            <a:t>Operational consistency</a:t>
          </a:r>
        </a:p>
      </dgm:t>
    </dgm:pt>
    <dgm:pt modelId="{9096D71F-9713-469B-ACE6-161111FE9A54}" type="parTrans" cxnId="{56C8B87E-0F96-4F20-8345-3069AB024E9E}">
      <dgm:prSet/>
      <dgm:spPr/>
      <dgm:t>
        <a:bodyPr/>
        <a:lstStyle/>
        <a:p>
          <a:endParaRPr lang="en-US" sz="1600" b="0" i="0">
            <a:latin typeface="+mn-lt"/>
          </a:endParaRPr>
        </a:p>
      </dgm:t>
    </dgm:pt>
    <dgm:pt modelId="{09D8EA0C-EED3-4BB1-8AEF-7CFB760A7162}" type="sibTrans" cxnId="{56C8B87E-0F96-4F20-8345-3069AB024E9E}">
      <dgm:prSet/>
      <dgm:spPr/>
      <dgm:t>
        <a:bodyPr/>
        <a:lstStyle/>
        <a:p>
          <a:pPr>
            <a:defRPr b="1"/>
          </a:pPr>
          <a:endParaRPr lang="en-US" b="0" i="0">
            <a:latin typeface="+mn-lt"/>
          </a:endParaRPr>
        </a:p>
      </dgm:t>
    </dgm:pt>
    <dgm:pt modelId="{56734F44-9D7F-4CFB-9CBD-E0EEABC32D3D}">
      <dgm:prSet/>
      <dgm:spPr/>
      <dgm:t>
        <a:bodyPr/>
        <a:lstStyle/>
        <a:p>
          <a:r>
            <a:rPr lang="en-US" b="0" i="0">
              <a:latin typeface="+mn-lt"/>
            </a:rPr>
            <a:t>Improved operational consistency and complaint resolution quality. Stronger compliance alignment and reduced regulatory risk.</a:t>
          </a:r>
        </a:p>
      </dgm:t>
    </dgm:pt>
    <dgm:pt modelId="{A3AD6FCC-E4F5-46B4-B004-A23AC5C6F65B}" type="parTrans" cxnId="{BF038F71-DD3A-456F-94B1-E4A5F6A7590E}">
      <dgm:prSet/>
      <dgm:spPr/>
      <dgm:t>
        <a:bodyPr/>
        <a:lstStyle/>
        <a:p>
          <a:endParaRPr lang="en-US" sz="1600" b="0" i="0">
            <a:latin typeface="+mn-lt"/>
          </a:endParaRPr>
        </a:p>
      </dgm:t>
    </dgm:pt>
    <dgm:pt modelId="{9C036100-254F-47F6-B01F-1758F7BB772A}" type="sibTrans" cxnId="{BF038F71-DD3A-456F-94B1-E4A5F6A7590E}">
      <dgm:prSet/>
      <dgm:spPr/>
      <dgm:t>
        <a:bodyPr/>
        <a:lstStyle/>
        <a:p>
          <a:endParaRPr lang="en-US" b="0" i="0">
            <a:latin typeface="+mn-lt"/>
          </a:endParaRPr>
        </a:p>
      </dgm:t>
    </dgm:pt>
    <dgm:pt modelId="{1DD03B1B-225F-4F59-88E9-6E12FADD869B}">
      <dgm:prSet/>
      <dgm:spPr/>
      <dgm:t>
        <a:bodyPr/>
        <a:lstStyle/>
        <a:p>
          <a:pPr>
            <a:defRPr b="1"/>
          </a:pPr>
          <a:r>
            <a:rPr lang="en-US" b="1" i="0">
              <a:latin typeface="Avenir Next LT Pro Demi" panose="020B0704020202020204" pitchFamily="34" charset="0"/>
            </a:rPr>
            <a:t>Enhanced visibility</a:t>
          </a:r>
        </a:p>
      </dgm:t>
    </dgm:pt>
    <dgm:pt modelId="{FE2FFDD7-EC33-4C15-918C-5DE14D4351F6}" type="parTrans" cxnId="{3651E0FD-E66F-4F72-99C5-BD809EC3C96C}">
      <dgm:prSet/>
      <dgm:spPr/>
      <dgm:t>
        <a:bodyPr/>
        <a:lstStyle/>
        <a:p>
          <a:endParaRPr lang="en-US" sz="1600" b="0" i="0">
            <a:latin typeface="+mn-lt"/>
          </a:endParaRPr>
        </a:p>
      </dgm:t>
    </dgm:pt>
    <dgm:pt modelId="{36F1427C-26E2-4129-AD15-F3263C896B71}" type="sibTrans" cxnId="{3651E0FD-E66F-4F72-99C5-BD809EC3C96C}">
      <dgm:prSet/>
      <dgm:spPr/>
      <dgm:t>
        <a:bodyPr/>
        <a:lstStyle/>
        <a:p>
          <a:endParaRPr lang="en-US" b="0" i="0">
            <a:latin typeface="+mn-lt"/>
          </a:endParaRPr>
        </a:p>
      </dgm:t>
    </dgm:pt>
    <dgm:pt modelId="{F6C60737-054A-4D4C-890B-C348D450576A}">
      <dgm:prSet/>
      <dgm:spPr/>
      <dgm:t>
        <a:bodyPr/>
        <a:lstStyle/>
        <a:p>
          <a:r>
            <a:rPr lang="en-US" b="0" i="0">
              <a:latin typeface="+mn-lt"/>
            </a:rPr>
            <a:t>Enhanced visibility into operational performance trends through ongoing monitoring dashboards and root-cause tagging.</a:t>
          </a:r>
        </a:p>
      </dgm:t>
    </dgm:pt>
    <dgm:pt modelId="{AD74D646-4FE6-49CB-B06E-B0BEE753FD5B}" type="parTrans" cxnId="{6193C484-8ABE-4C8E-BC1B-11825138E8E6}">
      <dgm:prSet/>
      <dgm:spPr/>
      <dgm:t>
        <a:bodyPr/>
        <a:lstStyle/>
        <a:p>
          <a:endParaRPr lang="en-US" sz="1600" b="0" i="0">
            <a:latin typeface="+mn-lt"/>
          </a:endParaRPr>
        </a:p>
      </dgm:t>
    </dgm:pt>
    <dgm:pt modelId="{33DDF299-F25D-43EA-B386-54F6148ECB5B}" type="sibTrans" cxnId="{6193C484-8ABE-4C8E-BC1B-11825138E8E6}">
      <dgm:prSet/>
      <dgm:spPr/>
      <dgm:t>
        <a:bodyPr/>
        <a:lstStyle/>
        <a:p>
          <a:endParaRPr lang="en-US" b="0" i="0">
            <a:latin typeface="+mn-lt"/>
          </a:endParaRPr>
        </a:p>
      </dgm:t>
    </dgm:pt>
    <dgm:pt modelId="{A7C4A2B5-A402-4729-A823-7305D5FD5CF4}" type="pres">
      <dgm:prSet presAssocID="{F79D005A-EF78-4DC8-A9B0-7B54127FABB3}" presName="linear" presStyleCnt="0">
        <dgm:presLayoutVars>
          <dgm:dir/>
          <dgm:animLvl val="lvl"/>
          <dgm:resizeHandles val="exact"/>
        </dgm:presLayoutVars>
      </dgm:prSet>
      <dgm:spPr/>
    </dgm:pt>
    <dgm:pt modelId="{EF5AAA22-D92C-4CC2-A314-F5885BEBA033}" type="pres">
      <dgm:prSet presAssocID="{5C6C0E93-31C2-4367-9734-22A77E91F852}" presName="parentLin" presStyleCnt="0"/>
      <dgm:spPr/>
    </dgm:pt>
    <dgm:pt modelId="{037C22AF-CAC1-4E9C-990A-1F68B7256130}" type="pres">
      <dgm:prSet presAssocID="{5C6C0E93-31C2-4367-9734-22A77E91F852}" presName="parentLeftMargin" presStyleLbl="node1" presStyleIdx="0" presStyleCnt="3"/>
      <dgm:spPr/>
    </dgm:pt>
    <dgm:pt modelId="{3741A13B-48E6-4E4A-95D0-169C1E825779}" type="pres">
      <dgm:prSet presAssocID="{5C6C0E93-31C2-4367-9734-22A77E91F85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A0C7BDC-FE37-43FD-A5E8-E3CCB0F0368C}" type="pres">
      <dgm:prSet presAssocID="{5C6C0E93-31C2-4367-9734-22A77E91F852}" presName="negativeSpace" presStyleCnt="0"/>
      <dgm:spPr/>
    </dgm:pt>
    <dgm:pt modelId="{74460468-AAF8-4C09-9473-F29DC1782FA5}" type="pres">
      <dgm:prSet presAssocID="{5C6C0E93-31C2-4367-9734-22A77E91F852}" presName="childText" presStyleLbl="conFgAcc1" presStyleIdx="0" presStyleCnt="3">
        <dgm:presLayoutVars>
          <dgm:bulletEnabled val="1"/>
        </dgm:presLayoutVars>
      </dgm:prSet>
      <dgm:spPr/>
    </dgm:pt>
    <dgm:pt modelId="{72481DDD-4801-4042-8AF5-7FB649E20CD4}" type="pres">
      <dgm:prSet presAssocID="{57C15597-8730-4C5E-950A-E3E94A8A5729}" presName="spaceBetweenRectangles" presStyleCnt="0"/>
      <dgm:spPr/>
    </dgm:pt>
    <dgm:pt modelId="{EEC1AC23-D158-4895-9644-3D09142C72E7}" type="pres">
      <dgm:prSet presAssocID="{6683C677-89E1-4E18-8444-F8D0F9174767}" presName="parentLin" presStyleCnt="0"/>
      <dgm:spPr/>
    </dgm:pt>
    <dgm:pt modelId="{2AF240B5-B465-4896-B91D-1E6C3CF3C8EB}" type="pres">
      <dgm:prSet presAssocID="{6683C677-89E1-4E18-8444-F8D0F9174767}" presName="parentLeftMargin" presStyleLbl="node1" presStyleIdx="0" presStyleCnt="3"/>
      <dgm:spPr/>
    </dgm:pt>
    <dgm:pt modelId="{B45E58A6-07CE-4FE7-A754-1D6DB1A1A806}" type="pres">
      <dgm:prSet presAssocID="{6683C677-89E1-4E18-8444-F8D0F917476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8FBE6DD-B859-4AD8-B6AA-08D3341D7D01}" type="pres">
      <dgm:prSet presAssocID="{6683C677-89E1-4E18-8444-F8D0F9174767}" presName="negativeSpace" presStyleCnt="0"/>
      <dgm:spPr/>
    </dgm:pt>
    <dgm:pt modelId="{4BB743F5-B467-4A83-A3AF-D0E69F5A0C97}" type="pres">
      <dgm:prSet presAssocID="{6683C677-89E1-4E18-8444-F8D0F9174767}" presName="childText" presStyleLbl="conFgAcc1" presStyleIdx="1" presStyleCnt="3">
        <dgm:presLayoutVars>
          <dgm:bulletEnabled val="1"/>
        </dgm:presLayoutVars>
      </dgm:prSet>
      <dgm:spPr/>
    </dgm:pt>
    <dgm:pt modelId="{97188492-4617-43C2-A210-FA18F3621D56}" type="pres">
      <dgm:prSet presAssocID="{09D8EA0C-EED3-4BB1-8AEF-7CFB760A7162}" presName="spaceBetweenRectangles" presStyleCnt="0"/>
      <dgm:spPr/>
    </dgm:pt>
    <dgm:pt modelId="{0F11FC09-D410-488D-9B7C-9C07551EDB36}" type="pres">
      <dgm:prSet presAssocID="{1DD03B1B-225F-4F59-88E9-6E12FADD869B}" presName="parentLin" presStyleCnt="0"/>
      <dgm:spPr/>
    </dgm:pt>
    <dgm:pt modelId="{1BE657C5-C83D-435F-9679-7207876E5909}" type="pres">
      <dgm:prSet presAssocID="{1DD03B1B-225F-4F59-88E9-6E12FADD869B}" presName="parentLeftMargin" presStyleLbl="node1" presStyleIdx="1" presStyleCnt="3"/>
      <dgm:spPr/>
    </dgm:pt>
    <dgm:pt modelId="{123A0F3F-14C7-4E52-BECD-0BE5631FE8DC}" type="pres">
      <dgm:prSet presAssocID="{1DD03B1B-225F-4F59-88E9-6E12FADD869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7880713-2EF5-486E-9ADE-3C7DD6A4C862}" type="pres">
      <dgm:prSet presAssocID="{1DD03B1B-225F-4F59-88E9-6E12FADD869B}" presName="negativeSpace" presStyleCnt="0"/>
      <dgm:spPr/>
    </dgm:pt>
    <dgm:pt modelId="{B2BFE4D4-9E47-4F11-822D-750FBC33873F}" type="pres">
      <dgm:prSet presAssocID="{1DD03B1B-225F-4F59-88E9-6E12FADD869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5D4FB02-B857-40B1-92FC-23CE60C6C04B}" type="presOf" srcId="{5DC4A6D3-8F5B-462C-98E5-9DBA04B5F5C0}" destId="{74460468-AAF8-4C09-9473-F29DC1782FA5}" srcOrd="0" destOrd="0" presId="urn:microsoft.com/office/officeart/2005/8/layout/list1"/>
    <dgm:cxn modelId="{8A145915-6092-4567-92FD-DD921369A6A9}" type="presOf" srcId="{F6C60737-054A-4D4C-890B-C348D450576A}" destId="{B2BFE4D4-9E47-4F11-822D-750FBC33873F}" srcOrd="0" destOrd="0" presId="urn:microsoft.com/office/officeart/2005/8/layout/list1"/>
    <dgm:cxn modelId="{30C8192B-2B39-46EC-9C8E-E31B48B741DA}" type="presOf" srcId="{5C6C0E93-31C2-4367-9734-22A77E91F852}" destId="{3741A13B-48E6-4E4A-95D0-169C1E825779}" srcOrd="1" destOrd="0" presId="urn:microsoft.com/office/officeart/2005/8/layout/list1"/>
    <dgm:cxn modelId="{5EC0E761-7F09-43B2-B71A-35F4F409DBF6}" type="presOf" srcId="{1DD03B1B-225F-4F59-88E9-6E12FADD869B}" destId="{1BE657C5-C83D-435F-9679-7207876E5909}" srcOrd="0" destOrd="0" presId="urn:microsoft.com/office/officeart/2005/8/layout/list1"/>
    <dgm:cxn modelId="{2F33CB4D-32A7-4285-BFD5-3BF044B8A363}" type="presOf" srcId="{6683C677-89E1-4E18-8444-F8D0F9174767}" destId="{B45E58A6-07CE-4FE7-A754-1D6DB1A1A806}" srcOrd="1" destOrd="0" presId="urn:microsoft.com/office/officeart/2005/8/layout/list1"/>
    <dgm:cxn modelId="{BF038F71-DD3A-456F-94B1-E4A5F6A7590E}" srcId="{6683C677-89E1-4E18-8444-F8D0F9174767}" destId="{56734F44-9D7F-4CFB-9CBD-E0EEABC32D3D}" srcOrd="0" destOrd="0" parTransId="{A3AD6FCC-E4F5-46B4-B004-A23AC5C6F65B}" sibTransId="{9C036100-254F-47F6-B01F-1758F7BB772A}"/>
    <dgm:cxn modelId="{1F7C9372-7A0E-4EED-89CF-CEB023B8D405}" type="presOf" srcId="{F79D005A-EF78-4DC8-A9B0-7B54127FABB3}" destId="{A7C4A2B5-A402-4729-A823-7305D5FD5CF4}" srcOrd="0" destOrd="0" presId="urn:microsoft.com/office/officeart/2005/8/layout/list1"/>
    <dgm:cxn modelId="{0499C072-8A23-41FB-8C63-5F643A778372}" type="presOf" srcId="{6683C677-89E1-4E18-8444-F8D0F9174767}" destId="{2AF240B5-B465-4896-B91D-1E6C3CF3C8EB}" srcOrd="0" destOrd="0" presId="urn:microsoft.com/office/officeart/2005/8/layout/list1"/>
    <dgm:cxn modelId="{56C8B87E-0F96-4F20-8345-3069AB024E9E}" srcId="{F79D005A-EF78-4DC8-A9B0-7B54127FABB3}" destId="{6683C677-89E1-4E18-8444-F8D0F9174767}" srcOrd="1" destOrd="0" parTransId="{9096D71F-9713-469B-ACE6-161111FE9A54}" sibTransId="{09D8EA0C-EED3-4BB1-8AEF-7CFB760A7162}"/>
    <dgm:cxn modelId="{CF853E80-17A4-4079-9B37-7ED34833C3A2}" type="presOf" srcId="{5C6C0E93-31C2-4367-9734-22A77E91F852}" destId="{037C22AF-CAC1-4E9C-990A-1F68B7256130}" srcOrd="0" destOrd="0" presId="urn:microsoft.com/office/officeart/2005/8/layout/list1"/>
    <dgm:cxn modelId="{6193C484-8ABE-4C8E-BC1B-11825138E8E6}" srcId="{1DD03B1B-225F-4F59-88E9-6E12FADD869B}" destId="{F6C60737-054A-4D4C-890B-C348D450576A}" srcOrd="0" destOrd="0" parTransId="{AD74D646-4FE6-49CB-B06E-B0BEE753FD5B}" sibTransId="{33DDF299-F25D-43EA-B386-54F6148ECB5B}"/>
    <dgm:cxn modelId="{B8CDC488-4F8D-4EF9-86AB-BC5EDA02D830}" srcId="{5C6C0E93-31C2-4367-9734-22A77E91F852}" destId="{5DC4A6D3-8F5B-462C-98E5-9DBA04B5F5C0}" srcOrd="0" destOrd="0" parTransId="{05AC1DA1-5915-400C-AA8A-59903F7D8430}" sibTransId="{EBE04370-C115-496A-829B-022F025D9929}"/>
    <dgm:cxn modelId="{9B9A63E8-6921-47EA-8EFB-C4372432D5A8}" type="presOf" srcId="{56734F44-9D7F-4CFB-9CBD-E0EEABC32D3D}" destId="{4BB743F5-B467-4A83-A3AF-D0E69F5A0C97}" srcOrd="0" destOrd="0" presId="urn:microsoft.com/office/officeart/2005/8/layout/list1"/>
    <dgm:cxn modelId="{380048F8-519C-4DF3-983E-65F199CAF07C}" srcId="{F79D005A-EF78-4DC8-A9B0-7B54127FABB3}" destId="{5C6C0E93-31C2-4367-9734-22A77E91F852}" srcOrd="0" destOrd="0" parTransId="{8C6185DB-C15F-4142-9FFC-06798EBB4FD3}" sibTransId="{57C15597-8730-4C5E-950A-E3E94A8A5729}"/>
    <dgm:cxn modelId="{C98107FD-DF3C-43BE-A4AD-5954EA2AD913}" type="presOf" srcId="{1DD03B1B-225F-4F59-88E9-6E12FADD869B}" destId="{123A0F3F-14C7-4E52-BECD-0BE5631FE8DC}" srcOrd="1" destOrd="0" presId="urn:microsoft.com/office/officeart/2005/8/layout/list1"/>
    <dgm:cxn modelId="{3651E0FD-E66F-4F72-99C5-BD809EC3C96C}" srcId="{F79D005A-EF78-4DC8-A9B0-7B54127FABB3}" destId="{1DD03B1B-225F-4F59-88E9-6E12FADD869B}" srcOrd="2" destOrd="0" parTransId="{FE2FFDD7-EC33-4C15-918C-5DE14D4351F6}" sibTransId="{36F1427C-26E2-4129-AD15-F3263C896B71}"/>
    <dgm:cxn modelId="{5F84806A-C7EC-4563-8867-D15865019451}" type="presParOf" srcId="{A7C4A2B5-A402-4729-A823-7305D5FD5CF4}" destId="{EF5AAA22-D92C-4CC2-A314-F5885BEBA033}" srcOrd="0" destOrd="0" presId="urn:microsoft.com/office/officeart/2005/8/layout/list1"/>
    <dgm:cxn modelId="{37510EC0-98C5-437D-A338-56864AC0B96F}" type="presParOf" srcId="{EF5AAA22-D92C-4CC2-A314-F5885BEBA033}" destId="{037C22AF-CAC1-4E9C-990A-1F68B7256130}" srcOrd="0" destOrd="0" presId="urn:microsoft.com/office/officeart/2005/8/layout/list1"/>
    <dgm:cxn modelId="{47125018-884D-404C-A6F8-5A28CC2C1666}" type="presParOf" srcId="{EF5AAA22-D92C-4CC2-A314-F5885BEBA033}" destId="{3741A13B-48E6-4E4A-95D0-169C1E825779}" srcOrd="1" destOrd="0" presId="urn:microsoft.com/office/officeart/2005/8/layout/list1"/>
    <dgm:cxn modelId="{D2443852-AFE1-4F6F-923B-7B23099B977E}" type="presParOf" srcId="{A7C4A2B5-A402-4729-A823-7305D5FD5CF4}" destId="{6A0C7BDC-FE37-43FD-A5E8-E3CCB0F0368C}" srcOrd="1" destOrd="0" presId="urn:microsoft.com/office/officeart/2005/8/layout/list1"/>
    <dgm:cxn modelId="{771CA67E-61EA-4BFD-B0F0-DC5106AB20DC}" type="presParOf" srcId="{A7C4A2B5-A402-4729-A823-7305D5FD5CF4}" destId="{74460468-AAF8-4C09-9473-F29DC1782FA5}" srcOrd="2" destOrd="0" presId="urn:microsoft.com/office/officeart/2005/8/layout/list1"/>
    <dgm:cxn modelId="{3C4F44A3-4AA8-4B6A-B0F8-56AE04B14E46}" type="presParOf" srcId="{A7C4A2B5-A402-4729-A823-7305D5FD5CF4}" destId="{72481DDD-4801-4042-8AF5-7FB649E20CD4}" srcOrd="3" destOrd="0" presId="urn:microsoft.com/office/officeart/2005/8/layout/list1"/>
    <dgm:cxn modelId="{63674F08-C6BF-4560-B92A-1788BE88E360}" type="presParOf" srcId="{A7C4A2B5-A402-4729-A823-7305D5FD5CF4}" destId="{EEC1AC23-D158-4895-9644-3D09142C72E7}" srcOrd="4" destOrd="0" presId="urn:microsoft.com/office/officeart/2005/8/layout/list1"/>
    <dgm:cxn modelId="{FE87EE63-54E5-44EF-8567-71E47E2A1513}" type="presParOf" srcId="{EEC1AC23-D158-4895-9644-3D09142C72E7}" destId="{2AF240B5-B465-4896-B91D-1E6C3CF3C8EB}" srcOrd="0" destOrd="0" presId="urn:microsoft.com/office/officeart/2005/8/layout/list1"/>
    <dgm:cxn modelId="{8825FC8C-DBAD-4B01-97A5-9FA70064F866}" type="presParOf" srcId="{EEC1AC23-D158-4895-9644-3D09142C72E7}" destId="{B45E58A6-07CE-4FE7-A754-1D6DB1A1A806}" srcOrd="1" destOrd="0" presId="urn:microsoft.com/office/officeart/2005/8/layout/list1"/>
    <dgm:cxn modelId="{390D9C81-B71F-4AD0-BA7E-5C354C5AFA96}" type="presParOf" srcId="{A7C4A2B5-A402-4729-A823-7305D5FD5CF4}" destId="{38FBE6DD-B859-4AD8-B6AA-08D3341D7D01}" srcOrd="5" destOrd="0" presId="urn:microsoft.com/office/officeart/2005/8/layout/list1"/>
    <dgm:cxn modelId="{AA4F044B-9028-4628-9996-E9CBD8416FC4}" type="presParOf" srcId="{A7C4A2B5-A402-4729-A823-7305D5FD5CF4}" destId="{4BB743F5-B467-4A83-A3AF-D0E69F5A0C97}" srcOrd="6" destOrd="0" presId="urn:microsoft.com/office/officeart/2005/8/layout/list1"/>
    <dgm:cxn modelId="{BC54076E-44CB-439D-9F81-BEBBEC5A8FFD}" type="presParOf" srcId="{A7C4A2B5-A402-4729-A823-7305D5FD5CF4}" destId="{97188492-4617-43C2-A210-FA18F3621D56}" srcOrd="7" destOrd="0" presId="urn:microsoft.com/office/officeart/2005/8/layout/list1"/>
    <dgm:cxn modelId="{674C38DA-4DF4-4630-ADE8-E33B45076EF0}" type="presParOf" srcId="{A7C4A2B5-A402-4729-A823-7305D5FD5CF4}" destId="{0F11FC09-D410-488D-9B7C-9C07551EDB36}" srcOrd="8" destOrd="0" presId="urn:microsoft.com/office/officeart/2005/8/layout/list1"/>
    <dgm:cxn modelId="{A8FE887F-06C7-4281-8C74-3F44217507C9}" type="presParOf" srcId="{0F11FC09-D410-488D-9B7C-9C07551EDB36}" destId="{1BE657C5-C83D-435F-9679-7207876E5909}" srcOrd="0" destOrd="0" presId="urn:microsoft.com/office/officeart/2005/8/layout/list1"/>
    <dgm:cxn modelId="{EBB84664-AF54-4D97-A152-1F592F9CC8C8}" type="presParOf" srcId="{0F11FC09-D410-488D-9B7C-9C07551EDB36}" destId="{123A0F3F-14C7-4E52-BECD-0BE5631FE8DC}" srcOrd="1" destOrd="0" presId="urn:microsoft.com/office/officeart/2005/8/layout/list1"/>
    <dgm:cxn modelId="{57AA362D-1D1D-4028-8AB2-2FFA79D60A5C}" type="presParOf" srcId="{A7C4A2B5-A402-4729-A823-7305D5FD5CF4}" destId="{D7880713-2EF5-486E-9ADE-3C7DD6A4C862}" srcOrd="9" destOrd="0" presId="urn:microsoft.com/office/officeart/2005/8/layout/list1"/>
    <dgm:cxn modelId="{C2D86A6A-4435-47F2-909F-B946ECC31F31}" type="presParOf" srcId="{A7C4A2B5-A402-4729-A823-7305D5FD5CF4}" destId="{B2BFE4D4-9E47-4F11-822D-750FBC33873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460468-AAF8-4C09-9473-F29DC1782FA5}">
      <dsp:nvSpPr>
        <dsp:cNvPr id="0" name=""/>
        <dsp:cNvSpPr/>
      </dsp:nvSpPr>
      <dsp:spPr>
        <a:xfrm>
          <a:off x="0" y="529106"/>
          <a:ext cx="6209051" cy="1275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1891" tIns="374904" rIns="481891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>
              <a:latin typeface="+mn-lt"/>
            </a:rPr>
            <a:t>Reduced complaint concentration in debt collection operations. Lower dispute rates and improved customer satisfaction.</a:t>
          </a:r>
        </a:p>
      </dsp:txBody>
      <dsp:txXfrm>
        <a:off x="0" y="529106"/>
        <a:ext cx="6209051" cy="1275750"/>
      </dsp:txXfrm>
    </dsp:sp>
    <dsp:sp modelId="{3741A13B-48E6-4E4A-95D0-169C1E825779}">
      <dsp:nvSpPr>
        <dsp:cNvPr id="0" name=""/>
        <dsp:cNvSpPr/>
      </dsp:nvSpPr>
      <dsp:spPr>
        <a:xfrm>
          <a:off x="310452" y="263426"/>
          <a:ext cx="4346335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4281" tIns="0" rIns="16428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i="0" kern="1200">
              <a:latin typeface="Avenir Next LT Pro Demi" panose="020B0704020202020204" pitchFamily="34" charset="0"/>
            </a:rPr>
            <a:t>Reduced complaint concentration</a:t>
          </a:r>
        </a:p>
      </dsp:txBody>
      <dsp:txXfrm>
        <a:off x="336391" y="289365"/>
        <a:ext cx="4294457" cy="479482"/>
      </dsp:txXfrm>
    </dsp:sp>
    <dsp:sp modelId="{4BB743F5-B467-4A83-A3AF-D0E69F5A0C97}">
      <dsp:nvSpPr>
        <dsp:cNvPr id="0" name=""/>
        <dsp:cNvSpPr/>
      </dsp:nvSpPr>
      <dsp:spPr>
        <a:xfrm>
          <a:off x="0" y="2167736"/>
          <a:ext cx="6209051" cy="1275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1891" tIns="374904" rIns="481891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>
              <a:latin typeface="+mn-lt"/>
            </a:rPr>
            <a:t>Improved operational consistency and complaint resolution quality. Stronger compliance alignment and reduced regulatory risk.</a:t>
          </a:r>
        </a:p>
      </dsp:txBody>
      <dsp:txXfrm>
        <a:off x="0" y="2167736"/>
        <a:ext cx="6209051" cy="1275750"/>
      </dsp:txXfrm>
    </dsp:sp>
    <dsp:sp modelId="{B45E58A6-07CE-4FE7-A754-1D6DB1A1A806}">
      <dsp:nvSpPr>
        <dsp:cNvPr id="0" name=""/>
        <dsp:cNvSpPr/>
      </dsp:nvSpPr>
      <dsp:spPr>
        <a:xfrm>
          <a:off x="310452" y="1902056"/>
          <a:ext cx="4346335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4281" tIns="0" rIns="16428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i="0" kern="1200">
              <a:latin typeface="Avenir Next LT Pro Demi" panose="020B0704020202020204" pitchFamily="34" charset="0"/>
            </a:rPr>
            <a:t>Operational consistency</a:t>
          </a:r>
        </a:p>
      </dsp:txBody>
      <dsp:txXfrm>
        <a:off x="336391" y="1927995"/>
        <a:ext cx="4294457" cy="479482"/>
      </dsp:txXfrm>
    </dsp:sp>
    <dsp:sp modelId="{B2BFE4D4-9E47-4F11-822D-750FBC33873F}">
      <dsp:nvSpPr>
        <dsp:cNvPr id="0" name=""/>
        <dsp:cNvSpPr/>
      </dsp:nvSpPr>
      <dsp:spPr>
        <a:xfrm>
          <a:off x="0" y="3806367"/>
          <a:ext cx="6209051" cy="1275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1891" tIns="374904" rIns="481891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>
              <a:latin typeface="+mn-lt"/>
            </a:rPr>
            <a:t>Enhanced visibility into operational performance trends through ongoing monitoring dashboards and root-cause tagging.</a:t>
          </a:r>
        </a:p>
      </dsp:txBody>
      <dsp:txXfrm>
        <a:off x="0" y="3806367"/>
        <a:ext cx="6209051" cy="1275750"/>
      </dsp:txXfrm>
    </dsp:sp>
    <dsp:sp modelId="{123A0F3F-14C7-4E52-BECD-0BE5631FE8DC}">
      <dsp:nvSpPr>
        <dsp:cNvPr id="0" name=""/>
        <dsp:cNvSpPr/>
      </dsp:nvSpPr>
      <dsp:spPr>
        <a:xfrm>
          <a:off x="310452" y="3540687"/>
          <a:ext cx="4346335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4281" tIns="0" rIns="16428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i="0" kern="1200">
              <a:latin typeface="Avenir Next LT Pro Demi" panose="020B0704020202020204" pitchFamily="34" charset="0"/>
            </a:rPr>
            <a:t>Enhanced visibility</a:t>
          </a:r>
        </a:p>
      </dsp:txBody>
      <dsp:txXfrm>
        <a:off x="336391" y="3566626"/>
        <a:ext cx="4294457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5109525"/>
            <a:ext cx="10923934" cy="747715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rgbClr val="EEECE7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5857241"/>
            <a:ext cx="10923934" cy="3657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99C1539-FE55-754C-8140-4DE5A3D0093E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329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8"/>
            <a:ext cx="10923933" cy="1113477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30" y="1748474"/>
            <a:ext cx="10923933" cy="447452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B2205-A044-144F-84D4-6B27EB969208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352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5" y="1129554"/>
            <a:ext cx="4389067" cy="3475236"/>
          </a:xfrm>
        </p:spPr>
        <p:txBody>
          <a:bodyPr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6" y="4731335"/>
            <a:ext cx="4389065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effectLst/>
              </a:defRPr>
            </a:lvl1pPr>
          </a:lstStyle>
          <a:p>
            <a:fld id="{975B86B3-5BD1-E04D-94CB-C9396197D104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058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634998"/>
            <a:ext cx="4528174" cy="3726813"/>
          </a:xfrm>
        </p:spPr>
        <p:txBody>
          <a:bodyPr anchor="t">
            <a:normAutofit/>
          </a:bodyPr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728526"/>
            <a:ext cx="4528174" cy="152597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34030" y="6453002"/>
            <a:ext cx="1951777" cy="365125"/>
          </a:xfrm>
        </p:spPr>
        <p:txBody>
          <a:bodyPr/>
          <a:lstStyle/>
          <a:p>
            <a:fld id="{EB2FD61D-E394-764E-8C81-698A049422CE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980262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735903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883B58F2-F2D6-81F9-E650-151885974CD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60705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816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930B334-E396-5C4C-43D3-2A48CE284D4B}"/>
              </a:ext>
            </a:extLst>
          </p:cNvPr>
          <p:cNvSpPr/>
          <p:nvPr/>
        </p:nvSpPr>
        <p:spPr>
          <a:xfrm>
            <a:off x="8729046" y="2877190"/>
            <a:ext cx="3462954" cy="29800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Picture Placeholder 10">
            <a:extLst>
              <a:ext uri="{FF2B5EF4-FFF2-40B4-BE49-F238E27FC236}">
                <a16:creationId xmlns:a16="http://schemas.microsoft.com/office/drawing/2014/main" id="{6E5507DD-C973-C66D-E3C6-62510D0C11B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5861050 h 6858000"/>
              <a:gd name="connsiteX1" fmla="*/ 12192000 w 12192000"/>
              <a:gd name="connsiteY1" fmla="*/ 586105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2876550 h 6858000"/>
              <a:gd name="connsiteX7" fmla="*/ 0 w 12192000"/>
              <a:gd name="connsiteY7" fmla="*/ 28765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5861050"/>
                </a:moveTo>
                <a:lnTo>
                  <a:pt x="12192000" y="5861050"/>
                </a:lnTo>
                <a:lnTo>
                  <a:pt x="121920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2876550"/>
                </a:lnTo>
                <a:lnTo>
                  <a:pt x="0" y="287655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6" y="3627120"/>
            <a:ext cx="6981822" cy="1482404"/>
          </a:xfrm>
        </p:spPr>
        <p:txBody>
          <a:bodyPr lIns="0" tIns="0" rIns="0" bIns="0" anchor="b">
            <a:noAutofit/>
          </a:bodyPr>
          <a:lstStyle>
            <a:lvl1pPr algn="l"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5429" y="3242949"/>
            <a:ext cx="2442535" cy="1866575"/>
          </a:xfrm>
        </p:spPr>
        <p:txBody>
          <a:bodyPr lIns="0" tIns="0" rIns="0" bIns="0" anchor="b">
            <a:normAutofit/>
          </a:bodyPr>
          <a:lstStyle>
            <a:lvl1pPr marL="0" indent="0" algn="l">
              <a:buNone/>
              <a:defRPr sz="200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90626" y="6453002"/>
            <a:ext cx="3494314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1C12C21-8A94-AC4F-B16A-3379E3B15E57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520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634999"/>
            <a:ext cx="7538425" cy="3549440"/>
          </a:xfrm>
        </p:spPr>
        <p:txBody>
          <a:bodyPr anchor="t">
            <a:normAutofit/>
          </a:bodyPr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8" y="4473553"/>
            <a:ext cx="715204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CB47E-82E0-3845-BBEC-EA5A4D477986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570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854239"/>
            <a:ext cx="8095016" cy="3592629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009" y="4617138"/>
            <a:ext cx="8095015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E9F3-5B47-F74C-AF17-7545C3075BA9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347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04D65-9F66-8B4B-99E1-04D718E2D598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08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739086" cy="4474526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BF9D5A3-011E-2448-8EA7-ED1DA93C950A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3174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6" y="3981766"/>
            <a:ext cx="9424363" cy="2241234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7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9" name="Picture Placeholder 10">
            <a:extLst>
              <a:ext uri="{FF2B5EF4-FFF2-40B4-BE49-F238E27FC236}">
                <a16:creationId xmlns:a16="http://schemas.microsoft.com/office/drawing/2014/main" id="{B05677CF-A118-7926-8335-C9BDFBBEBC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38505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0626" y="6453002"/>
            <a:ext cx="3494314" cy="365125"/>
          </a:xfrm>
        </p:spPr>
        <p:txBody>
          <a:bodyPr/>
          <a:lstStyle/>
          <a:p>
            <a:fld id="{EBF9D5A3-011E-2448-8EA7-ED1DA93C950A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0141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578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90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6" y="3981766"/>
            <a:ext cx="9424363" cy="2241234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7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9" name="Picture Placeholder 10">
            <a:extLst>
              <a:ext uri="{FF2B5EF4-FFF2-40B4-BE49-F238E27FC236}">
                <a16:creationId xmlns:a16="http://schemas.microsoft.com/office/drawing/2014/main" id="{B05677CF-A118-7926-8335-C9BDFBBEBC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38505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0626" y="645300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BF9D5A3-011E-2448-8EA7-ED1DA93C950A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0141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5782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9210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accent4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2000">
                <a:solidFill>
                  <a:schemeClr val="accent4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</a:defRPr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837980FC-551F-7648-B663-D4725C73371A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3016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3pPr>
            <a:lvl4pPr marL="1028700" indent="-342900">
              <a:buFont typeface="+mj-lt"/>
              <a:buAutoNum type="arabicPeriod"/>
              <a:defRPr sz="1400">
                <a:solidFill>
                  <a:srgbClr val="EEECE7"/>
                </a:solidFill>
              </a:defRPr>
            </a:lvl4pPr>
            <a:lvl5pPr marL="914400" indent="0">
              <a:buFont typeface="+mj-lt"/>
              <a:buNone/>
              <a:defRPr sz="1200">
                <a:solidFill>
                  <a:srgbClr val="EEECE7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607721C-58DF-ED4A-AFB2-38ECD840304F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978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8" y="634999"/>
            <a:ext cx="4156760" cy="1493619"/>
          </a:xfrm>
        </p:spPr>
        <p:txBody>
          <a:bodyPr anchor="b">
            <a:noAutofit/>
          </a:bodyPr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90628" y="2495334"/>
            <a:ext cx="4156760" cy="2979952"/>
          </a:xfrm>
        </p:spPr>
        <p:txBody>
          <a:bodyPr anchor="ctr">
            <a:normAutofit/>
          </a:bodyPr>
          <a:lstStyle>
            <a:lvl1pPr marL="457200" indent="-457200">
              <a:buFont typeface="+mj-lt"/>
              <a:buAutoNum type="arabicPeriod"/>
              <a:defRPr sz="2000" b="0">
                <a:solidFill>
                  <a:schemeClr val="bg2"/>
                </a:solidFill>
              </a:defRPr>
            </a:lvl1pPr>
            <a:lvl2pPr marL="228600" indent="0">
              <a:buFont typeface="+mj-lt"/>
              <a:buNone/>
              <a:defRPr sz="1800">
                <a:solidFill>
                  <a:schemeClr val="bg2"/>
                </a:solidFill>
              </a:defRPr>
            </a:lvl2pPr>
            <a:lvl3pPr marL="457200" indent="0">
              <a:buFont typeface="+mj-lt"/>
              <a:buNone/>
              <a:defRPr sz="1600">
                <a:solidFill>
                  <a:schemeClr val="bg2"/>
                </a:solidFill>
              </a:defRPr>
            </a:lvl3pPr>
            <a:lvl4pPr marL="685800" indent="0">
              <a:buFont typeface="+mj-lt"/>
              <a:buNone/>
              <a:defRPr sz="1400">
                <a:solidFill>
                  <a:srgbClr val="EEECE7"/>
                </a:solidFill>
              </a:defRPr>
            </a:lvl4pPr>
            <a:lvl5pPr marL="914400" indent="0">
              <a:buFont typeface="+mj-lt"/>
              <a:buNone/>
              <a:defRPr sz="1200">
                <a:solidFill>
                  <a:srgbClr val="EEECE7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0" name="Date Placeholder 4">
            <a:extLst>
              <a:ext uri="{FF2B5EF4-FFF2-40B4-BE49-F238E27FC236}">
                <a16:creationId xmlns:a16="http://schemas.microsoft.com/office/drawing/2014/main" id="{C02E0912-74EC-6BFE-8EE5-E2826FFF5B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0627" y="6453002"/>
            <a:ext cx="2031073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F855CF3-0CDC-6146-833E-B14CBD3A1129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31" name="Footer Placeholder 5">
            <a:extLst>
              <a:ext uri="{FF2B5EF4-FFF2-40B4-BE49-F238E27FC236}">
                <a16:creationId xmlns:a16="http://schemas.microsoft.com/office/drawing/2014/main" id="{C319B48F-3D66-C908-6D0C-EA40F5757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32" name="Slide Number Placeholder 6">
            <a:extLst>
              <a:ext uri="{FF2B5EF4-FFF2-40B4-BE49-F238E27FC236}">
                <a16:creationId xmlns:a16="http://schemas.microsoft.com/office/drawing/2014/main" id="{7E01ACE0-4DE0-ECB1-531E-E0796354C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2952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3328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9ADEB-1D4E-034B-9A9A-EEA797696EBB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519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CD63-9FC5-9546-95C0-FE78C46AB848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3816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537853"/>
            <a:ext cx="4328499" cy="4685147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2" y="1537853"/>
            <a:ext cx="5652468" cy="468514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1FE1-1806-F743-B3DF-DC818C5E0CFA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6532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2173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20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877456"/>
            <a:ext cx="4328498" cy="4940661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877456"/>
            <a:ext cx="6209051" cy="5345544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36AED-CD20-E042-9D89-B5C40BFC938F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8684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634999"/>
            <a:ext cx="3385523" cy="5588001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5935" y="634999"/>
            <a:ext cx="7152027" cy="558800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29" y="6453002"/>
            <a:ext cx="3392464" cy="365125"/>
          </a:xfrm>
        </p:spPr>
        <p:txBody>
          <a:bodyPr/>
          <a:lstStyle/>
          <a:p>
            <a:fld id="{963ECC65-EBE4-ED49-BC09-ED8715E14D2F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771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F0D05F3-FFA6-9003-2472-7EE883F3F125}"/>
              </a:ext>
            </a:extLst>
          </p:cNvPr>
          <p:cNvSpPr/>
          <p:nvPr/>
        </p:nvSpPr>
        <p:spPr>
          <a:xfrm>
            <a:off x="-1" y="0"/>
            <a:ext cx="4969469" cy="6858000"/>
          </a:xfrm>
          <a:prstGeom prst="rect">
            <a:avLst/>
          </a:prstGeom>
          <a:solidFill>
            <a:schemeClr val="accent4"/>
          </a:solidFill>
          <a:ln w="476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5"/>
            <a:ext cx="3771899" cy="3360096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55853" y="1001715"/>
            <a:ext cx="6202112" cy="522128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/>
                </a:solidFill>
              </a:defRPr>
            </a:lvl1pPr>
            <a:lvl2pPr marL="228600" indent="0">
              <a:buNone/>
              <a:defRPr>
                <a:solidFill>
                  <a:srgbClr val="212121"/>
                </a:solidFill>
              </a:defRPr>
            </a:lvl2pPr>
            <a:lvl3pPr marL="457200" indent="0">
              <a:buNone/>
              <a:defRPr>
                <a:solidFill>
                  <a:srgbClr val="212121"/>
                </a:solidFill>
              </a:defRPr>
            </a:lvl3pPr>
            <a:lvl4pPr marL="685800" indent="0">
              <a:buNone/>
              <a:defRPr>
                <a:solidFill>
                  <a:srgbClr val="212121"/>
                </a:solidFill>
              </a:defRPr>
            </a:lvl4pPr>
            <a:lvl5pPr marL="914400" indent="0">
              <a:buNone/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30" y="6453002"/>
            <a:ext cx="3494314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63ECC65-EBE4-ED49-BC09-ED8715E14D2F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8213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C7832F5-5743-B852-CFBD-A453688C9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7" y="634998"/>
            <a:ext cx="9810752" cy="1113477"/>
          </a:xfrm>
        </p:spPr>
        <p:txBody>
          <a:bodyPr anchor="ctr">
            <a:normAutofit/>
          </a:bodyPr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520727E-663D-7628-6197-3DD428E02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0627" y="2129474"/>
            <a:ext cx="9810752" cy="409352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E108DBA-B2DF-B1F4-86B4-10B43D8013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89917" y="6453002"/>
            <a:ext cx="3772610" cy="365125"/>
          </a:xfrm>
        </p:spPr>
        <p:txBody>
          <a:bodyPr/>
          <a:lstStyle/>
          <a:p>
            <a:fld id="{33FB2205-A044-144F-84D4-6B27EB969208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62434A56-2457-3A7F-DA99-C2DF07C2E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6531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9527412-BB07-9FB8-4801-2558FA876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217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4170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11D39F5-1C3E-0C82-7C38-50FAC164C4D7}"/>
              </a:ext>
            </a:extLst>
          </p:cNvPr>
          <p:cNvSpPr/>
          <p:nvPr/>
        </p:nvSpPr>
        <p:spPr>
          <a:xfrm rot="5400000">
            <a:off x="7975599" y="2641600"/>
            <a:ext cx="6858000" cy="1574800"/>
          </a:xfrm>
          <a:prstGeom prst="rect">
            <a:avLst/>
          </a:prstGeom>
          <a:solidFill>
            <a:schemeClr val="bg2"/>
          </a:solidFill>
          <a:ln w="476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8" y="634998"/>
            <a:ext cx="7538418" cy="1494477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0627" y="2694626"/>
            <a:ext cx="7538418" cy="352837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0627" y="6421438"/>
            <a:ext cx="3494314" cy="365125"/>
          </a:xfrm>
        </p:spPr>
        <p:txBody>
          <a:bodyPr/>
          <a:lstStyle/>
          <a:p>
            <a:fld id="{98B6B797-8C96-7B40-858A-31DC30E46B99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4197" y="642143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99838" y="642143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9765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912" y="634999"/>
            <a:ext cx="6208788" cy="1143000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8911" y="1915159"/>
            <a:ext cx="6209051" cy="430784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48911" y="6453002"/>
            <a:ext cx="3337584" cy="365125"/>
          </a:xfrm>
        </p:spPr>
        <p:txBody>
          <a:bodyPr/>
          <a:lstStyle/>
          <a:p>
            <a:fld id="{BFA5863C-A0B8-5146-806B-13D8F1D9F15D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7380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02" y="660216"/>
            <a:ext cx="6209067" cy="1143000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1940376"/>
            <a:ext cx="6209067" cy="4282624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16B9C00-63B5-9D48-BD54-5CD50E6D1896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658121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41376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8B3FD125-D624-AEDF-7CA5-B4D5FEC26E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98115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6539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7395" y="634999"/>
            <a:ext cx="6900567" cy="883474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57395" y="1748474"/>
            <a:ext cx="6900567" cy="447452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657395" y="6453002"/>
            <a:ext cx="3494314" cy="365125"/>
          </a:xfrm>
        </p:spPr>
        <p:txBody>
          <a:bodyPr/>
          <a:lstStyle/>
          <a:p>
            <a:fld id="{704ADAB5-C8B9-EA4F-9B54-B9C671E97959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4224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6595446" cy="1113474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1748474"/>
            <a:ext cx="6595450" cy="447452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5D2C4BB-DA67-B545-8C46-DE9F222B5CD8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44627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0026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EFBCD2C-CE3F-48B5-7374-15896E8E2FE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6864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5191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5544" y="634999"/>
            <a:ext cx="4312418" cy="1494476"/>
          </a:xfrm>
        </p:spPr>
        <p:txBody>
          <a:bodyPr anchor="b"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45480" y="2129475"/>
            <a:ext cx="4313171" cy="409352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/>
                </a:solidFill>
              </a:defRPr>
            </a:lvl1pPr>
            <a:lvl2pPr marL="228600" indent="0">
              <a:buNone/>
              <a:defRPr sz="1600">
                <a:solidFill>
                  <a:schemeClr val="accent4"/>
                </a:solidFill>
              </a:defRPr>
            </a:lvl2pPr>
            <a:lvl3pPr marL="457200" indent="0">
              <a:buNone/>
              <a:defRPr sz="1600">
                <a:solidFill>
                  <a:schemeClr val="accent4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effectLst/>
              </a:defRPr>
            </a:lvl1pPr>
          </a:lstStyle>
          <a:p>
            <a:fld id="{D57B857B-6F63-1F48-955E-B52C073CE06D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2626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8" y="6453002"/>
            <a:ext cx="2031073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F855CF3-0CDC-6146-833E-B14CBD3A1129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8790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44431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E89FF669-6F70-0BBE-AEF9-386870F538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80491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6750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4034" y="634999"/>
            <a:ext cx="4343792" cy="1113473"/>
          </a:xfrm>
        </p:spPr>
        <p:txBody>
          <a:bodyPr anchor="b">
            <a:no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4097" y="2129472"/>
            <a:ext cx="4333866" cy="4093527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9" name="Date Placeholder 4">
            <a:extLst>
              <a:ext uri="{FF2B5EF4-FFF2-40B4-BE49-F238E27FC236}">
                <a16:creationId xmlns:a16="http://schemas.microsoft.com/office/drawing/2014/main" id="{5BA59051-2E37-B44E-3BE4-036CFCEC01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14034" y="6455100"/>
            <a:ext cx="1622776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effectLst/>
              </a:defRPr>
            </a:lvl1pPr>
          </a:lstStyle>
          <a:p>
            <a:fld id="{D57B857B-6F63-1F48-955E-B52C073CE06D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30" name="Footer Placeholder 5">
            <a:extLst>
              <a:ext uri="{FF2B5EF4-FFF2-40B4-BE49-F238E27FC236}">
                <a16:creationId xmlns:a16="http://schemas.microsoft.com/office/drawing/2014/main" id="{4869ACB0-9C5A-6BE0-8C80-D9E0A37A0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73114" y="6453002"/>
            <a:ext cx="2805405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31" name="Slide Number Placeholder 6">
            <a:extLst>
              <a:ext uri="{FF2B5EF4-FFF2-40B4-BE49-F238E27FC236}">
                <a16:creationId xmlns:a16="http://schemas.microsoft.com/office/drawing/2014/main" id="{C03A7A90-B1A7-F3FA-F3F7-2FFCEF01B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8755" y="6453002"/>
            <a:ext cx="429207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7258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8"/>
            <a:ext cx="4714755" cy="1113477"/>
          </a:xfrm>
        </p:spPr>
        <p:txBody>
          <a:bodyPr anchor="b">
            <a:no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155" y="2129475"/>
            <a:ext cx="4714755" cy="409352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/>
                </a:solidFill>
              </a:defRPr>
            </a:lvl1pPr>
            <a:lvl2pPr marL="228600" indent="0">
              <a:buNone/>
              <a:defRPr sz="1600">
                <a:solidFill>
                  <a:schemeClr val="accent4"/>
                </a:solidFill>
              </a:defRPr>
            </a:lvl2pPr>
            <a:lvl3pPr marL="457200" indent="0">
              <a:buNone/>
              <a:defRPr sz="1600">
                <a:solidFill>
                  <a:schemeClr val="accent4"/>
                </a:solidFill>
              </a:defRPr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29" y="6453002"/>
            <a:ext cx="2031073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1F24CE17-0024-E947-9A0B-6CE584FBBF88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B63F1E3-73AB-2C61-9938-4FE7FCF565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99760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8259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5" y="634999"/>
            <a:ext cx="3385508" cy="1475462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582" y="2212975"/>
            <a:ext cx="3385508" cy="4010025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6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72455" y="6453002"/>
            <a:ext cx="922372" cy="365125"/>
          </a:xfrm>
        </p:spPr>
        <p:txBody>
          <a:bodyPr/>
          <a:lstStyle/>
          <a:p>
            <a:fld id="{DDF14E10-FD0B-374B-9C00-8A777EDA3C5C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591763" y="6453002"/>
            <a:ext cx="2546891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28756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4282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3380186" cy="1475462"/>
          </a:xfrm>
        </p:spPr>
        <p:txBody>
          <a:bodyPr anchor="b">
            <a:no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212975"/>
            <a:ext cx="3380186" cy="401002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/>
                </a:solidFill>
              </a:defRPr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30" y="6453002"/>
            <a:ext cx="1067625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A1924E00-0C44-1C49-925D-DDDBF73CC386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9368" y="6453002"/>
            <a:ext cx="2805405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5009" y="6453002"/>
            <a:ext cx="429207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F8AAA09-9D34-924D-6A0F-78D96678660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07856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9026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1078992"/>
            <a:ext cx="3385508" cy="1942773"/>
          </a:xfrm>
        </p:spPr>
        <p:txBody>
          <a:bodyPr anchor="b"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3099816"/>
            <a:ext cx="3385508" cy="295351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/>
                </a:solidFill>
              </a:defRPr>
            </a:lvl1pPr>
            <a:lvl2pPr marL="228600" indent="0">
              <a:buNone/>
              <a:defRPr sz="1600">
                <a:solidFill>
                  <a:schemeClr val="accent4"/>
                </a:solidFill>
              </a:defRPr>
            </a:lvl2pPr>
            <a:lvl3pPr marL="457200" indent="0">
              <a:buNone/>
              <a:defRPr sz="1600">
                <a:solidFill>
                  <a:schemeClr val="accent4"/>
                </a:solidFill>
              </a:defRPr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2454" y="6453002"/>
            <a:ext cx="1003659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effectLst/>
              </a:defRPr>
            </a:lvl1pPr>
          </a:lstStyle>
          <a:p>
            <a:fld id="{83D5EE98-F02F-2744-8D3C-AF0227FFB7C1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93590" y="6453002"/>
            <a:ext cx="2335165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8755" y="6453002"/>
            <a:ext cx="429207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3787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032" y="4958527"/>
            <a:ext cx="3739896" cy="1264473"/>
          </a:xfrm>
        </p:spPr>
        <p:txBody>
          <a:bodyPr anchor="t">
            <a:noAutofit/>
          </a:bodyPr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958527"/>
            <a:ext cx="6208722" cy="126447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6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9B263-2653-0541-BF47-C4DC4E1A75E5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652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4162318"/>
            <a:ext cx="2828932" cy="2060682"/>
          </a:xfrm>
        </p:spPr>
        <p:txBody>
          <a:bodyPr anchor="t">
            <a:noAutofit/>
          </a:bodyPr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47" y="4162318"/>
            <a:ext cx="7538416" cy="2060682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7C65-C299-8D48-9E06-344E064C3039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0507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2828931" cy="2242190"/>
          </a:xfrm>
        </p:spPr>
        <p:txBody>
          <a:bodyPr anchor="t">
            <a:noAutofit/>
          </a:bodyPr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29" y="59778"/>
            <a:ext cx="3494314" cy="365125"/>
          </a:xfrm>
        </p:spPr>
        <p:txBody>
          <a:bodyPr/>
          <a:lstStyle/>
          <a:p>
            <a:fld id="{2F0AB329-227C-D24B-9518-10762846747E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73116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8757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634999"/>
            <a:ext cx="7538412" cy="224219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6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3789E4D2-0090-6657-3957-76E3A7DF5D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2644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634999"/>
            <a:ext cx="10923933" cy="938968"/>
          </a:xfrm>
        </p:spPr>
        <p:txBody>
          <a:bodyPr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6912" y="1828801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4097" y="1828801"/>
            <a:ext cx="4333865" cy="43942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7FFD0-5877-974E-8763-5E65A5A0C616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9876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634999"/>
            <a:ext cx="4714883" cy="1367536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8" y="2181352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498" y="634999"/>
            <a:ext cx="5652464" cy="5588001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accent4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accent4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600">
                <a:solidFill>
                  <a:schemeClr val="accent4"/>
                </a:solidFill>
              </a:defRPr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7BF1F40F-A1B9-304C-BB24-0A8B44048542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4018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634999"/>
            <a:ext cx="3768109" cy="1369114"/>
          </a:xfrm>
        </p:spPr>
        <p:txBody>
          <a:bodyPr anchor="t">
            <a:noAutofit/>
          </a:bodyPr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8" y="2181352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2" y="634999"/>
            <a:ext cx="6595440" cy="558800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E6FB-EB11-4F48-B051-ECD85CC4C2D1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8851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230" y="1001714"/>
            <a:ext cx="4158148" cy="1875475"/>
          </a:xfrm>
        </p:spPr>
        <p:txBody>
          <a:bodyPr anchor="b"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 l="-1" r="-845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3242950"/>
            <a:ext cx="4158283" cy="223233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309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effectLst/>
              </a:defRPr>
            </a:lvl1pPr>
          </a:lstStyle>
          <a:p>
            <a:fld id="{D57B857B-6F63-1F48-955E-B52C073CE06D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6530" y="6453002"/>
            <a:ext cx="2805405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2171" y="6453002"/>
            <a:ext cx="429207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6931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7" y="1001715"/>
            <a:ext cx="4156761" cy="1874520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90628" y="3242950"/>
            <a:ext cx="4156760" cy="2232336"/>
          </a:xfrm>
        </p:spPr>
        <p:txBody>
          <a:bodyPr lIns="0" anchor="t">
            <a:normAutofit/>
          </a:bodyPr>
          <a:lstStyle>
            <a:lvl1pPr marL="0" indent="0">
              <a:buFont typeface="+mj-lt"/>
              <a:buNone/>
              <a:defRPr sz="1600">
                <a:solidFill>
                  <a:schemeClr val="bg2"/>
                </a:solidFill>
              </a:defRPr>
            </a:lvl1pPr>
            <a:lvl2pPr marL="228600" indent="0">
              <a:buFont typeface="+mj-lt"/>
              <a:buNone/>
              <a:defRPr sz="1800">
                <a:solidFill>
                  <a:srgbClr val="EEECE7"/>
                </a:solidFill>
              </a:defRPr>
            </a:lvl2pPr>
            <a:lvl3pPr marL="457200" indent="0">
              <a:buFont typeface="+mj-lt"/>
              <a:buNone/>
              <a:defRPr sz="1600">
                <a:solidFill>
                  <a:srgbClr val="EEECE7"/>
                </a:solidFill>
              </a:defRPr>
            </a:lvl3pPr>
            <a:lvl4pPr marL="685800" indent="0">
              <a:buFont typeface="+mj-lt"/>
              <a:buNone/>
              <a:defRPr sz="1400">
                <a:solidFill>
                  <a:srgbClr val="EEECE7"/>
                </a:solidFill>
              </a:defRPr>
            </a:lvl4pPr>
            <a:lvl5pPr marL="914400" indent="0">
              <a:buFont typeface="+mj-lt"/>
              <a:buNone/>
              <a:defRPr sz="1200">
                <a:solidFill>
                  <a:srgbClr val="EEECE7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Date Placeholder 4">
            <a:extLst>
              <a:ext uri="{FF2B5EF4-FFF2-40B4-BE49-F238E27FC236}">
                <a16:creationId xmlns:a16="http://schemas.microsoft.com/office/drawing/2014/main" id="{C02E0912-74EC-6BFE-8EE5-E2826FFF5B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0627" y="6453002"/>
            <a:ext cx="2031073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F855CF3-0CDC-6146-833E-B14CBD3A1129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31" name="Footer Placeholder 5">
            <a:extLst>
              <a:ext uri="{FF2B5EF4-FFF2-40B4-BE49-F238E27FC236}">
                <a16:creationId xmlns:a16="http://schemas.microsoft.com/office/drawing/2014/main" id="{C319B48F-3D66-C908-6D0C-EA40F5757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32" name="Slide Number Placeholder 6">
            <a:extLst>
              <a:ext uri="{FF2B5EF4-FFF2-40B4-BE49-F238E27FC236}">
                <a16:creationId xmlns:a16="http://schemas.microsoft.com/office/drawing/2014/main" id="{7E01ACE0-4DE0-ECB1-531E-E0796354C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2952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509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19" y="4718304"/>
            <a:ext cx="6209075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000" b="0" i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634999"/>
            <a:ext cx="10923934" cy="430276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7000" b="1" i="0">
                <a:solidFill>
                  <a:schemeClr val="accent4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0EE7096D-ECC9-704C-B459-3FE0DBD114B3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50201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2" y="4809744"/>
            <a:ext cx="7924802" cy="1408177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i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14400" y="640079"/>
            <a:ext cx="10381129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 i="0">
                <a:solidFill>
                  <a:schemeClr val="accent4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ADD35398-EB28-174B-A40C-D96FB403AA79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1617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80" y="4809744"/>
            <a:ext cx="7152034" cy="1408177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i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640079"/>
            <a:ext cx="10923933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 i="0">
                <a:solidFill>
                  <a:schemeClr val="accent4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07370EA1-5BA4-AC47-BAC7-9DC01D8C75BF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995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7A3088-1CC6-BE54-7A62-79A3F16EC6E9}"/>
              </a:ext>
            </a:extLst>
          </p:cNvPr>
          <p:cNvSpPr/>
          <p:nvPr/>
        </p:nvSpPr>
        <p:spPr>
          <a:xfrm>
            <a:off x="0" y="4728526"/>
            <a:ext cx="12192000" cy="21294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6" y="5099669"/>
            <a:ext cx="8481387" cy="756615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b="0" i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90626" y="1381760"/>
            <a:ext cx="8481387" cy="2980050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7000" b="1" i="0">
                <a:solidFill>
                  <a:schemeClr val="accent4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0626" y="6453002"/>
            <a:ext cx="3494314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EE7096D-ECC9-704C-B459-3FE0DBD114B3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8716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2806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5662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634999"/>
            <a:ext cx="8095017" cy="5588002"/>
          </a:xfr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buNone/>
              <a:defRPr sz="5000" b="0"/>
            </a:lvl1pPr>
            <a:lvl2pPr marL="228600" indent="0">
              <a:lnSpc>
                <a:spcPct val="80000"/>
              </a:lnSpc>
              <a:buNone/>
              <a:defRPr sz="4800" b="0"/>
            </a:lvl2pPr>
            <a:lvl3pPr marL="457200" indent="0">
              <a:lnSpc>
                <a:spcPct val="80000"/>
              </a:lnSpc>
              <a:buNone/>
              <a:defRPr sz="4400" b="0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CAABF-89DB-3F47-B027-BF3E61AFFB8D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0475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929384"/>
            <a:ext cx="8095017" cy="4142232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buNone/>
              <a:defRPr sz="5000" b="0"/>
            </a:lvl1pPr>
            <a:lvl2pPr marL="228600" indent="0">
              <a:lnSpc>
                <a:spcPct val="80000"/>
              </a:lnSpc>
              <a:buNone/>
              <a:defRPr sz="4400" b="0"/>
            </a:lvl2pPr>
            <a:lvl3pPr marL="457200" indent="0">
              <a:lnSpc>
                <a:spcPct val="80000"/>
              </a:lnSpc>
              <a:buNone/>
              <a:defRPr sz="4000" b="0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D3CBE-3A6D-5549-8694-6C42B456079C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0927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634998"/>
            <a:ext cx="8095017" cy="5588002"/>
          </a:xfrm>
        </p:spPr>
        <p:txBody>
          <a:bodyPr anchor="t">
            <a:noAutofit/>
          </a:bodyPr>
          <a:lstStyle>
            <a:lvl1pPr marL="0" indent="0">
              <a:lnSpc>
                <a:spcPct val="80000"/>
              </a:lnSpc>
              <a:buNone/>
              <a:defRPr sz="5000" b="0"/>
            </a:lvl1pPr>
            <a:lvl2pPr marL="228600" indent="0">
              <a:lnSpc>
                <a:spcPct val="80000"/>
              </a:lnSpc>
              <a:buNone/>
              <a:defRPr sz="4400" b="0"/>
            </a:lvl2pPr>
            <a:lvl3pPr marL="457200" indent="0">
              <a:lnSpc>
                <a:spcPct val="80000"/>
              </a:lnSpc>
              <a:buNone/>
              <a:defRPr sz="4000" b="0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BDC33-792D-BF4E-9DE7-199C5B30538C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1151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7232E05-ABB8-BE6D-4573-761B2737EAE0}"/>
              </a:ext>
            </a:extLst>
          </p:cNvPr>
          <p:cNvSpPr/>
          <p:nvPr/>
        </p:nvSpPr>
        <p:spPr>
          <a:xfrm rot="-10800000">
            <a:off x="0" y="5473700"/>
            <a:ext cx="12192000" cy="1384299"/>
          </a:xfrm>
          <a:prstGeom prst="rect">
            <a:avLst/>
          </a:prstGeom>
          <a:solidFill>
            <a:schemeClr val="accent4"/>
          </a:solidFill>
          <a:ln w="476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4662" y="1001715"/>
            <a:ext cx="8542687" cy="410781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000" b="0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24662" y="6453002"/>
            <a:ext cx="3494314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6DD3CBE-3A6D-5549-8694-6C42B456079C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82490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38131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9073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4661" y="5431536"/>
            <a:ext cx="8790327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77004" y="1188720"/>
            <a:ext cx="9037985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1">
                <a:solidFill>
                  <a:schemeClr val="accent4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32871E99-B1AF-2544-8ABC-7E96B52AD80C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19841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7004" y="5349240"/>
            <a:ext cx="9037985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77004" y="1344168"/>
            <a:ext cx="9037985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1" i="0">
                <a:solidFill>
                  <a:schemeClr val="accent4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709CB95A-28A9-764B-82F3-523AFC520B08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784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0" y="5669280"/>
            <a:ext cx="88819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97280"/>
            <a:ext cx="9037986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1" i="0">
                <a:solidFill>
                  <a:schemeClr val="accent4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64FF7E46-5096-014D-BC27-4A461B337064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76356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27" y="5109526"/>
            <a:ext cx="9810752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14400" y="2496190"/>
            <a:ext cx="10086979" cy="1865621"/>
          </a:xfrm>
        </p:spPr>
        <p:txBody>
          <a:bodyPr anchor="b">
            <a:normAutofit/>
          </a:bodyPr>
          <a:lstStyle>
            <a:lvl1pPr marL="438912" indent="-438912">
              <a:lnSpc>
                <a:spcPct val="85000"/>
              </a:lnSpc>
              <a:spcBef>
                <a:spcPts val="0"/>
              </a:spcBef>
              <a:buNone/>
              <a:defRPr sz="6000" b="1">
                <a:solidFill>
                  <a:schemeClr val="accent4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0B2A5AD-D5FE-CAFA-CA21-CF7AA15D171E}"/>
              </a:ext>
            </a:extLst>
          </p:cNvPr>
          <p:cNvSpPr/>
          <p:nvPr/>
        </p:nvSpPr>
        <p:spPr>
          <a:xfrm rot="-10800000">
            <a:off x="0" y="1"/>
            <a:ext cx="12192000" cy="1384299"/>
          </a:xfrm>
          <a:prstGeom prst="rect">
            <a:avLst/>
          </a:prstGeom>
          <a:solidFill>
            <a:schemeClr val="tx2"/>
          </a:solidFill>
          <a:ln w="476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453002"/>
            <a:ext cx="3494314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32871E99-B1AF-2544-8ABC-7E96B52AD80C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6531" y="6453002"/>
            <a:ext cx="2805405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2172" y="6453002"/>
            <a:ext cx="429207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4203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8"/>
            <a:ext cx="10923932" cy="11134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1748476"/>
            <a:ext cx="5266091" cy="4474524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Avenir Next LT Pro Light" panose="020B0304020202020204" pitchFamily="34" charset="77"/>
              </a:defRPr>
            </a:lvl1pPr>
            <a:lvl2pPr marL="228600" indent="0">
              <a:buNone/>
              <a:defRPr sz="1600" b="0" i="0">
                <a:latin typeface="Avenir Next LT Pro Light" panose="020B0304020202020204" pitchFamily="34" charset="77"/>
              </a:defRPr>
            </a:lvl2pPr>
            <a:lvl3pPr marL="457200" indent="0">
              <a:buNone/>
              <a:defRPr sz="1600" b="0" i="0">
                <a:latin typeface="Avenir Next LT Pro Light" panose="020B0304020202020204" pitchFamily="34" charset="77"/>
              </a:defRPr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499" y="1748476"/>
            <a:ext cx="5271461" cy="4474524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Avenir Next LT Pro Light" panose="020B0304020202020204" pitchFamily="34" charset="77"/>
              </a:defRPr>
            </a:lvl1pPr>
            <a:lvl2pPr marL="228600" indent="0">
              <a:buNone/>
              <a:defRPr sz="1600" b="0" i="0">
                <a:latin typeface="Avenir Next LT Pro Light" panose="020B0304020202020204" pitchFamily="34" charset="77"/>
              </a:defRPr>
            </a:lvl2pPr>
            <a:lvl3pPr marL="457200" indent="0">
              <a:buNone/>
              <a:defRPr sz="1600" b="0" i="0">
                <a:latin typeface="Avenir Next LT Pro Light" panose="020B0304020202020204" pitchFamily="34" charset="77"/>
              </a:defRPr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6B797-8C96-7B40-858A-31DC30E46B99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06304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11D39F5-1C3E-0C82-7C38-50FAC164C4D7}"/>
              </a:ext>
            </a:extLst>
          </p:cNvPr>
          <p:cNvSpPr/>
          <p:nvPr/>
        </p:nvSpPr>
        <p:spPr>
          <a:xfrm rot="5400000">
            <a:off x="-2641600" y="2641600"/>
            <a:ext cx="6858000" cy="1574800"/>
          </a:xfrm>
          <a:prstGeom prst="rect">
            <a:avLst/>
          </a:prstGeom>
          <a:solidFill>
            <a:schemeClr val="tx2"/>
          </a:solidFill>
          <a:ln w="476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79" y="634998"/>
            <a:ext cx="8481399" cy="1494477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14604" y="2726190"/>
            <a:ext cx="3771900" cy="274909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24097" y="2726190"/>
            <a:ext cx="3777282" cy="274909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15965" y="6453002"/>
            <a:ext cx="3494314" cy="365125"/>
          </a:xfrm>
        </p:spPr>
        <p:txBody>
          <a:bodyPr/>
          <a:lstStyle/>
          <a:p>
            <a:fld id="{98B6B797-8C96-7B40-858A-31DC30E46B99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6530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2171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49159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95" y="634999"/>
            <a:ext cx="10897465" cy="1113475"/>
          </a:xfrm>
        </p:spPr>
        <p:txBody>
          <a:bodyPr/>
          <a:lstStyle>
            <a:lvl1pPr>
              <a:defRPr b="1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8" y="1685735"/>
            <a:ext cx="5266085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i="0" cap="none" baseline="0">
                <a:latin typeface="Avenir Next LT Pro Demi" panose="020B0504020202020204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387600"/>
            <a:ext cx="5266085" cy="3835400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Avenir Next LT Pro" panose="020B0504020202020204" pitchFamily="34" charset="77"/>
              </a:defRPr>
            </a:lvl1pPr>
            <a:lvl2pPr marL="228600" indent="0">
              <a:buNone/>
              <a:defRPr sz="1600" b="0" i="0">
                <a:latin typeface="Avenir Next LT Pro" panose="020B0504020202020204" pitchFamily="34" charset="77"/>
              </a:defRPr>
            </a:lvl2pPr>
            <a:lvl3pPr marL="457200" indent="0">
              <a:buNone/>
              <a:defRPr sz="1600" b="0" i="0">
                <a:latin typeface="Avenir Next LT Pro" panose="020B0504020202020204" pitchFamily="34" charset="77"/>
              </a:defRPr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498" y="1685735"/>
            <a:ext cx="5271463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i="0" cap="none" baseline="0">
                <a:latin typeface="Avenir Next LT Pro Demi" panose="020B0504020202020204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0" y="2387600"/>
            <a:ext cx="5271462" cy="3835400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Avenir Next LT Pro" panose="020B0504020202020204" pitchFamily="34" charset="77"/>
              </a:defRPr>
            </a:lvl1pPr>
            <a:lvl2pPr marL="228600" indent="0">
              <a:buNone/>
              <a:defRPr sz="1600" b="0" i="0">
                <a:latin typeface="Avenir Next LT Pro" panose="020B0504020202020204" pitchFamily="34" charset="77"/>
              </a:defRPr>
            </a:lvl2pPr>
            <a:lvl3pPr marL="457200" indent="0">
              <a:buNone/>
              <a:defRPr sz="1600" b="0" i="0">
                <a:latin typeface="Avenir Next LT Pro" panose="020B0504020202020204" pitchFamily="34" charset="77"/>
              </a:defRPr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6317-D46A-0048-A871-AEF9DE49A7CF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58868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1185-F2DE-8040-8984-4BB660A07A30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61835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ADBD-4F70-7340-AA85-2018E3C9401A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37563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634999"/>
            <a:ext cx="3771908" cy="1488134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8" y="2495234"/>
            <a:ext cx="3771908" cy="3727766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2527" y="634999"/>
            <a:ext cx="6595435" cy="558800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D1322-2C70-6641-9F75-CA20FA3485FD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49037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634998"/>
            <a:ext cx="3771908" cy="2242191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3968" y="2877189"/>
            <a:ext cx="3761368" cy="3345811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1172F-8B87-C246-AF2A-44BADFF81A4F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0024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7322954" cy="2607951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1479" y="3615051"/>
            <a:ext cx="10861669" cy="260794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E46D60-4824-2B46-A429-6FFFC876163D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368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627318"/>
            <a:ext cx="8481400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157" y="3622674"/>
            <a:ext cx="8481271" cy="1279615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accent4"/>
                </a:solidFill>
              </a:defRPr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749DCBF9-491D-F34D-B5AD-D621777F4E56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2808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FC7910A-FDD4-CFB6-5D08-8738CFD7F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80" y="1001715"/>
            <a:ext cx="8481399" cy="1875475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19980" y="3594099"/>
            <a:ext cx="8481400" cy="27432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19979" y="6453002"/>
            <a:ext cx="3494314" cy="365125"/>
          </a:xfrm>
        </p:spPr>
        <p:txBody>
          <a:bodyPr/>
          <a:lstStyle/>
          <a:p>
            <a:fld id="{7DE46D60-4824-2B46-A429-6FFFC876163D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6531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217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C3DD8A-D366-C703-9E6F-DD3DBC4C8F89}"/>
              </a:ext>
            </a:extLst>
          </p:cNvPr>
          <p:cNvSpPr/>
          <p:nvPr/>
        </p:nvSpPr>
        <p:spPr>
          <a:xfrm rot="5400000">
            <a:off x="-2641600" y="2641600"/>
            <a:ext cx="6858000" cy="1574800"/>
          </a:xfrm>
          <a:prstGeom prst="rect">
            <a:avLst/>
          </a:prstGeom>
          <a:solidFill>
            <a:schemeClr val="bg2"/>
          </a:solidFill>
          <a:ln w="476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697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4029" y="6453002"/>
            <a:ext cx="3494314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accent4"/>
                </a:solidFill>
                <a:latin typeface="+mn-lt"/>
              </a:defRPr>
            </a:lvl1pPr>
          </a:lstStyle>
          <a:p>
            <a:fld id="{751CB43A-CDDD-6A4B-A6FC-B11CEFA147CB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73114" y="6453002"/>
            <a:ext cx="280540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8755" y="6453002"/>
            <a:ext cx="42920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accent4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9" y="1748474"/>
            <a:ext cx="10923933" cy="447452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8"/>
            <a:ext cx="10923934" cy="111347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12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4038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  <p:sldLayoutId id="2147484049" r:id="rId12"/>
    <p:sldLayoutId id="2147484050" r:id="rId13"/>
    <p:sldLayoutId id="2147484051" r:id="rId14"/>
    <p:sldLayoutId id="2147484052" r:id="rId15"/>
    <p:sldLayoutId id="2147484053" r:id="rId16"/>
    <p:sldLayoutId id="2147484054" r:id="rId17"/>
    <p:sldLayoutId id="2147484055" r:id="rId18"/>
    <p:sldLayoutId id="2147484056" r:id="rId19"/>
    <p:sldLayoutId id="2147484057" r:id="rId20"/>
    <p:sldLayoutId id="2147484039" r:id="rId21"/>
    <p:sldLayoutId id="2147484091" r:id="rId22"/>
    <p:sldLayoutId id="2147484058" r:id="rId23"/>
    <p:sldLayoutId id="2147484059" r:id="rId24"/>
    <p:sldLayoutId id="2147484060" r:id="rId25"/>
    <p:sldLayoutId id="2147484061" r:id="rId26"/>
    <p:sldLayoutId id="2147484062" r:id="rId27"/>
    <p:sldLayoutId id="2147484063" r:id="rId28"/>
    <p:sldLayoutId id="2147484064" r:id="rId29"/>
    <p:sldLayoutId id="2147484065" r:id="rId30"/>
    <p:sldLayoutId id="2147484066" r:id="rId31"/>
    <p:sldLayoutId id="2147484067" r:id="rId32"/>
    <p:sldLayoutId id="2147484068" r:id="rId33"/>
    <p:sldLayoutId id="2147484069" r:id="rId34"/>
    <p:sldLayoutId id="2147484070" r:id="rId35"/>
    <p:sldLayoutId id="2147484071" r:id="rId36"/>
    <p:sldLayoutId id="2147484072" r:id="rId37"/>
    <p:sldLayoutId id="2147484073" r:id="rId38"/>
    <p:sldLayoutId id="2147484074" r:id="rId39"/>
    <p:sldLayoutId id="2147484075" r:id="rId40"/>
    <p:sldLayoutId id="2147484076" r:id="rId41"/>
    <p:sldLayoutId id="2147484077" r:id="rId42"/>
    <p:sldLayoutId id="2147484078" r:id="rId43"/>
    <p:sldLayoutId id="2147484079" r:id="rId44"/>
    <p:sldLayoutId id="2147484080" r:id="rId45"/>
    <p:sldLayoutId id="2147484081" r:id="rId46"/>
    <p:sldLayoutId id="2147484082" r:id="rId47"/>
    <p:sldLayoutId id="2147484083" r:id="rId48"/>
    <p:sldLayoutId id="2147484084" r:id="rId49"/>
    <p:sldLayoutId id="2147484085" r:id="rId50"/>
    <p:sldLayoutId id="2147484086" r:id="rId51"/>
    <p:sldLayoutId id="2147484087" r:id="rId52"/>
    <p:sldLayoutId id="2147484088" r:id="rId53"/>
    <p:sldLayoutId id="2147484089" r:id="rId54"/>
    <p:sldLayoutId id="2147484090" r:id="rId55"/>
    <p:sldLayoutId id="2147484092" r:id="rId56"/>
    <p:sldLayoutId id="2147484093" r:id="rId57"/>
    <p:sldLayoutId id="2147484094" r:id="rId58"/>
    <p:sldLayoutId id="2147484095" r:id="rId59"/>
    <p:sldLayoutId id="2147484096" r:id="rId60"/>
    <p:sldLayoutId id="2147484097" r:id="rId61"/>
    <p:sldLayoutId id="2147484099" r:id="rId62"/>
    <p:sldLayoutId id="2147484098" r:id="rId6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800" b="1" kern="1200" spc="20" baseline="0">
          <a:solidFill>
            <a:schemeClr val="accent4"/>
          </a:solidFill>
          <a:latin typeface="+mj-lt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04000"/>
        </a:lnSpc>
        <a:spcBef>
          <a:spcPts val="1000"/>
        </a:spcBef>
        <a:buFont typeface="Arial" panose="020B0604020202020204" pitchFamily="34" charset="0"/>
        <a:buChar char="•"/>
        <a:defRPr sz="1800" b="0" i="0" kern="1200" spc="20" baseline="0">
          <a:solidFill>
            <a:schemeClr val="accent4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4000"/>
        </a:lnSpc>
        <a:spcBef>
          <a:spcPts val="500"/>
        </a:spcBef>
        <a:buFont typeface="Arial" panose="020B0604020202020204" pitchFamily="34" charset="0"/>
        <a:buChar char="•"/>
        <a:defRPr sz="1600" b="0" i="0" kern="1200" spc="20" baseline="0">
          <a:solidFill>
            <a:schemeClr val="accent4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4000"/>
        </a:lnSpc>
        <a:spcBef>
          <a:spcPts val="500"/>
        </a:spcBef>
        <a:buFont typeface="Arial" panose="020B0604020202020204" pitchFamily="34" charset="0"/>
        <a:buChar char="•"/>
        <a:defRPr sz="1400" b="0" i="0" kern="1200" spc="20" baseline="0">
          <a:solidFill>
            <a:schemeClr val="accent4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Avenir Next LT Pro Light" panose="020B0304020202020204" pitchFamily="34" charset="77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Next LT Pro Light" panose="020B03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group of people walking on the sidewalk">
            <a:extLst>
              <a:ext uri="{FF2B5EF4-FFF2-40B4-BE49-F238E27FC236}">
                <a16:creationId xmlns:a16="http://schemas.microsoft.com/office/drawing/2014/main" id="{B3D2A9F4-5054-8973-491F-3B916CFA427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6" y="3627120"/>
            <a:ext cx="6981822" cy="1482404"/>
          </a:xfrm>
        </p:spPr>
        <p:txBody>
          <a:bodyPr/>
          <a:lstStyle/>
          <a:p>
            <a:r>
              <a:rPr lang="en-US" dirty="0"/>
              <a:t>CFPB Consumer Complaint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5429" y="3242949"/>
            <a:ext cx="2442535" cy="1866575"/>
          </a:xfrm>
        </p:spPr>
        <p:txBody>
          <a:bodyPr>
            <a:normAutofit/>
          </a:bodyPr>
          <a:lstStyle/>
          <a:p>
            <a:r>
              <a:rPr lang="en-US"/>
              <a:t>Findings &amp; Recommendations</a:t>
            </a:r>
            <a:br>
              <a:rPr lang="en-US"/>
            </a:br>
            <a:r>
              <a:rPr lang="en-US" dirty="0"/>
              <a:t>May 2026</a:t>
            </a:r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0D9FB-B08B-6550-BEBF-B4307419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8" y="634999"/>
            <a:ext cx="4156760" cy="1493619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C7904-BA22-561E-1DE0-8E716FCEA6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90628" y="2495334"/>
            <a:ext cx="4156760" cy="2979952"/>
          </a:xfrm>
        </p:spPr>
        <p:txBody>
          <a:bodyPr/>
          <a:lstStyle/>
          <a:p>
            <a:r>
              <a:rPr lang="en-US"/>
              <a:t>Executive summary</a:t>
            </a:r>
            <a:endParaRPr lang="en-US" dirty="0"/>
          </a:p>
          <a:p>
            <a:r>
              <a:rPr lang="en-US" dirty="0"/>
              <a:t>Key </a:t>
            </a:r>
            <a:r>
              <a:rPr lang="en-US"/>
              <a:t>findings</a:t>
            </a:r>
          </a:p>
          <a:p>
            <a:r>
              <a:rPr lang="en-US"/>
              <a:t>Root cause analysis</a:t>
            </a:r>
            <a:endParaRPr lang="en-US" dirty="0"/>
          </a:p>
          <a:p>
            <a:r>
              <a:rPr lang="en-US"/>
              <a:t>Pareto &amp; Lean analysis</a:t>
            </a:r>
            <a:endParaRPr lang="en-US" dirty="0"/>
          </a:p>
          <a:p>
            <a:r>
              <a:rPr lang="en-US"/>
              <a:t>Recommendations</a:t>
            </a:r>
          </a:p>
          <a:p>
            <a:r>
              <a:rPr lang="en-US"/>
              <a:t>Expected outcomes &amp; conclusion</a:t>
            </a:r>
            <a:endParaRPr lang="en-US" dirty="0"/>
          </a:p>
        </p:txBody>
      </p:sp>
      <p:pic>
        <p:nvPicPr>
          <p:cNvPr id="24" name="Picture Placeholder 23" descr="A group of yellow taxi cabs on a street">
            <a:extLst>
              <a:ext uri="{FF2B5EF4-FFF2-40B4-BE49-F238E27FC236}">
                <a16:creationId xmlns:a16="http://schemas.microsoft.com/office/drawing/2014/main" id="{2DA944FF-88B2-91C2-C93D-71CA568050E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" r="46"/>
          <a:stretch/>
        </p:blipFill>
        <p:spPr>
          <a:xfrm>
            <a:off x="6092952" y="0"/>
            <a:ext cx="6099048" cy="6858000"/>
          </a:xfrm>
        </p:spPr>
      </p:pic>
    </p:spTree>
    <p:extLst>
      <p:ext uri="{BB962C8B-B14F-4D97-AF65-F5344CB8AC3E}">
        <p14:creationId xmlns:p14="http://schemas.microsoft.com/office/powerpoint/2010/main" val="1545177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6" y="3981766"/>
            <a:ext cx="9424363" cy="2241234"/>
          </a:xfrm>
        </p:spPr>
        <p:txBody>
          <a:bodyPr/>
          <a:lstStyle/>
          <a:p>
            <a:r>
              <a:rPr lang="en-US"/>
              <a:t>Executive Summary</a:t>
            </a:r>
            <a:endParaRPr lang="en-US" dirty="0"/>
          </a:p>
        </p:txBody>
      </p:sp>
      <p:pic>
        <p:nvPicPr>
          <p:cNvPr id="14" name="Picture Placeholder 13" descr="A group of people crossing a street">
            <a:extLst>
              <a:ext uri="{FF2B5EF4-FFF2-40B4-BE49-F238E27FC236}">
                <a16:creationId xmlns:a16="http://schemas.microsoft.com/office/drawing/2014/main" id="{786FAFD7-EF2D-E331-DB21-90A4369D32C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" b="86"/>
          <a:stretch/>
        </p:blipFill>
        <p:spPr>
          <a:xfrm>
            <a:off x="-1" y="0"/>
            <a:ext cx="12192000" cy="3385050"/>
          </a:xfrm>
        </p:spPr>
      </p:pic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5072A-5F3E-FB56-A498-3CACC2BCD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Executive summary</a:t>
            </a:r>
            <a:endParaRPr lang="en-US" dirty="0"/>
          </a:p>
        </p:txBody>
      </p:sp>
      <p:pic>
        <p:nvPicPr>
          <p:cNvPr id="39" name="Picture Placeholder 38" descr="A group of orange chairs in a circle">
            <a:extLst>
              <a:ext uri="{FF2B5EF4-FFF2-40B4-BE49-F238E27FC236}">
                <a16:creationId xmlns:a16="http://schemas.microsoft.com/office/drawing/2014/main" id="{5893A294-BB09-2881-F3FC-8CDBA961E31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" y="0"/>
            <a:ext cx="6096000" cy="68580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E842F-FDC7-B259-9F3B-88630D44DF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3242950"/>
            <a:ext cx="4711596" cy="3178632"/>
          </a:xfrm>
        </p:spPr>
        <p:txBody>
          <a:bodyPr>
            <a:normAutofit lnSpcReduction="10000"/>
          </a:bodyPr>
          <a:lstStyle/>
          <a:p>
            <a:r>
              <a:rPr lang="en-GB" dirty="0"/>
              <a:t>This analysis reviewed CFPB consumer complaint data to evaluate operational performance, complaint drivers, and customer resolution effectiveness across financial products and services.</a:t>
            </a:r>
          </a:p>
          <a:p>
            <a:r>
              <a:rPr lang="en-GB" dirty="0"/>
              <a:t>The findings indicate that complaint activity is heavily concentrated within a limited number of operational areas, particularly debt collection-related processes. While response timeliness remains strong, dispute levels and complaint concentration suggest opportunities to improve operational controls, customer communication, and resolution effectiveness.</a:t>
            </a:r>
          </a:p>
        </p:txBody>
      </p:sp>
    </p:spTree>
    <p:extLst>
      <p:ext uri="{BB962C8B-B14F-4D97-AF65-F5344CB8AC3E}">
        <p14:creationId xmlns:p14="http://schemas.microsoft.com/office/powerpoint/2010/main" val="948600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BD05B-626E-805B-3979-F4B5AD4C5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79" y="634998"/>
            <a:ext cx="8481399" cy="1494477"/>
          </a:xfrm>
        </p:spPr>
        <p:txBody>
          <a:bodyPr/>
          <a:lstStyle/>
          <a:p>
            <a:r>
              <a:rPr lang="en-US"/>
              <a:t>Key findings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4CB10-2DF4-DC09-AC0F-609BF11213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14604" y="2726190"/>
            <a:ext cx="3771900" cy="2749095"/>
          </a:xfrm>
        </p:spPr>
        <p:txBody>
          <a:bodyPr>
            <a:normAutofit fontScale="92500" lnSpcReduction="20000"/>
          </a:bodyPr>
          <a:lstStyle/>
          <a:p>
            <a:r>
              <a:rPr lang="en-US" b="1">
                <a:latin typeface="Avenir Next LT Pro Demi" panose="020B0704020202020204" pitchFamily="34" charset="0"/>
              </a:rPr>
              <a:t>Operational performance</a:t>
            </a:r>
            <a:br>
              <a:rPr lang="en-US"/>
            </a:br>
            <a:br>
              <a:rPr lang="en-US"/>
            </a:br>
            <a:r>
              <a:rPr lang="en-US"/>
              <a:t>On-time response exceeded </a:t>
            </a:r>
            <a:r>
              <a:rPr lang="en-US" b="1"/>
              <a:t>99%</a:t>
            </a:r>
            <a:r>
              <a:rPr lang="en-US"/>
              <a:t>. However, only </a:t>
            </a:r>
            <a:r>
              <a:rPr lang="en-US" b="1"/>
              <a:t>51.97%</a:t>
            </a:r>
            <a:r>
              <a:rPr lang="en-US"/>
              <a:t> of the time the organization demonstrably followed applicable laws and regulations.</a:t>
            </a:r>
            <a:br>
              <a:rPr lang="en-US"/>
            </a:br>
            <a:br>
              <a:rPr lang="en-US"/>
            </a:br>
            <a:r>
              <a:rPr lang="en-US" b="1">
                <a:latin typeface="Avenir Next LT Pro Demi" panose="020B0704020202020204" pitchFamily="34" charset="0"/>
              </a:rPr>
              <a:t>Complaint concentration</a:t>
            </a:r>
            <a:br>
              <a:rPr lang="en-US"/>
            </a:br>
            <a:br>
              <a:rPr lang="en-US"/>
            </a:br>
            <a:r>
              <a:rPr lang="en-US"/>
              <a:t>The majority of complaints originate from </a:t>
            </a:r>
            <a:r>
              <a:rPr lang="en-US" b="1"/>
              <a:t>debt collection</a:t>
            </a:r>
            <a:r>
              <a:rPr lang="en-US"/>
              <a:t>, primarily continued attempts to collect debts not owed and communication tactics issues</a:t>
            </a:r>
            <a:r>
              <a:rPr lang="en-US" dirty="0"/>
              <a:t>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E9B55B-919C-6C32-408E-D46E6B1DEA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24097" y="2726190"/>
            <a:ext cx="3777282" cy="274909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latin typeface="Avenir Next LT Pro Demi" panose="020B0704020202020204" pitchFamily="34" charset="0"/>
              </a:rPr>
              <a:t>Resolution </a:t>
            </a:r>
            <a:r>
              <a:rPr lang="en-US" b="1">
                <a:latin typeface="Avenir Next LT Pro Demi" panose="020B0704020202020204" pitchFamily="34" charset="0"/>
              </a:rPr>
              <a:t>effectiveness</a:t>
            </a:r>
            <a:br>
              <a:rPr lang="en-US"/>
            </a:br>
            <a:br>
              <a:rPr lang="en-US"/>
            </a:br>
            <a:r>
              <a:rPr lang="en-US"/>
              <a:t>Approximately </a:t>
            </a:r>
            <a:r>
              <a:rPr lang="en-US" b="1" dirty="0"/>
              <a:t>15%</a:t>
            </a:r>
            <a:r>
              <a:rPr lang="en-US" dirty="0"/>
              <a:t> of </a:t>
            </a:r>
            <a:r>
              <a:rPr lang="en-US"/>
              <a:t>complaint </a:t>
            </a:r>
            <a:r>
              <a:rPr lang="en-US" dirty="0"/>
              <a:t>resolutions were disputed by consumers</a:t>
            </a:r>
            <a:r>
              <a:rPr lang="en-US"/>
              <a:t>. Nearly </a:t>
            </a:r>
            <a:r>
              <a:rPr lang="en-US" b="1"/>
              <a:t>29%</a:t>
            </a:r>
            <a:r>
              <a:rPr lang="en-US"/>
              <a:t> were resolved through explanation-only responses</a:t>
            </a:r>
            <a:r>
              <a:rPr lang="en-US" dirty="0"/>
              <a:t>, </a:t>
            </a:r>
            <a:r>
              <a:rPr lang="en-US"/>
              <a:t>indicating potential dissatisfaction.</a:t>
            </a:r>
            <a:br>
              <a:rPr lang="en-US"/>
            </a:br>
            <a:br>
              <a:rPr lang="en-US"/>
            </a:br>
            <a:r>
              <a:rPr lang="en-US" b="1">
                <a:latin typeface="Avenir Next LT Pro Demi" panose="020B0704020202020204" pitchFamily="34" charset="0"/>
              </a:rPr>
              <a:t>Geographic concentration</a:t>
            </a:r>
            <a:br>
              <a:rPr lang="en-US"/>
            </a:br>
            <a:br>
              <a:rPr lang="en-US"/>
            </a:br>
            <a:r>
              <a:rPr lang="en-US"/>
              <a:t>Texas </a:t>
            </a:r>
            <a:r>
              <a:rPr lang="en-US" dirty="0"/>
              <a:t>and </a:t>
            </a:r>
            <a:r>
              <a:rPr lang="en-US"/>
              <a:t>California recorded the highest complaint volumes within the dataset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1559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CA2ED-E264-B783-FD31-72F6D3EDB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6" y="5099669"/>
            <a:ext cx="8481387" cy="756615"/>
          </a:xfrm>
        </p:spPr>
        <p:txBody>
          <a:bodyPr>
            <a:normAutofit/>
          </a:bodyPr>
          <a:lstStyle/>
          <a:p>
            <a:r>
              <a:rPr lang="en-US"/>
              <a:t>on-time response rate across all complaint categories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0F18A-49D8-F475-560D-48F33D57C7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90626" y="1381760"/>
            <a:ext cx="8481387" cy="2980050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&gt;99</a:t>
            </a:r>
            <a:r>
              <a:rPr lang="en-US" dirty="0"/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2492782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60D7-F74C-CD9E-C576-1CB8FFE87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6" y="3981766"/>
            <a:ext cx="9424363" cy="2241234"/>
          </a:xfrm>
        </p:spPr>
        <p:txBody>
          <a:bodyPr/>
          <a:lstStyle/>
          <a:p>
            <a:r>
              <a:rPr lang="en-US"/>
              <a:t>Root cause analysis</a:t>
            </a:r>
            <a:endParaRPr lang="en-US" dirty="0"/>
          </a:p>
        </p:txBody>
      </p:sp>
      <p:pic>
        <p:nvPicPr>
          <p:cNvPr id="15" name="Picture Placeholder 14" descr="A group of people sitting around a round table">
            <a:extLst>
              <a:ext uri="{FF2B5EF4-FFF2-40B4-BE49-F238E27FC236}">
                <a16:creationId xmlns:a16="http://schemas.microsoft.com/office/drawing/2014/main" id="{E493CA46-6311-6973-56C6-BA3467A4466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" b="95"/>
          <a:stretch/>
        </p:blipFill>
        <p:spPr>
          <a:xfrm>
            <a:off x="-1" y="0"/>
            <a:ext cx="12192000" cy="3385050"/>
          </a:xfrm>
        </p:spPr>
      </p:pic>
    </p:spTree>
    <p:extLst>
      <p:ext uri="{BB962C8B-B14F-4D97-AF65-F5344CB8AC3E}">
        <p14:creationId xmlns:p14="http://schemas.microsoft.com/office/powerpoint/2010/main" val="1858387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BB16D-2F4A-F938-64C3-F8B6808F5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8" y="634998"/>
            <a:ext cx="7538418" cy="1494477"/>
          </a:xfrm>
        </p:spPr>
        <p:txBody>
          <a:bodyPr>
            <a:normAutofit/>
          </a:bodyPr>
          <a:lstStyle/>
          <a:p>
            <a:r>
              <a:rPr lang="en-US"/>
              <a:t>Root cause analysis findings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CE1C32-E3BE-E820-0C0D-D82105EBFB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0628" y="2694629"/>
            <a:ext cx="7974836" cy="3528373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Avenir Next LT Pro Demi" panose="020B0704020202020204" pitchFamily="34" charset="0"/>
              </a:rPr>
              <a:t>Primary </a:t>
            </a:r>
            <a:r>
              <a:rPr lang="en-US" b="1">
                <a:latin typeface="Avenir Next LT Pro Demi" panose="020B0704020202020204" pitchFamily="34" charset="0"/>
              </a:rPr>
              <a:t>drivers</a:t>
            </a:r>
            <a:endParaRPr lang="en-US" b="1" dirty="0">
              <a:latin typeface="Avenir Next LT Pro Demi" panose="020B0704020202020204" pitchFamily="34" charset="0"/>
            </a:endParaRPr>
          </a:p>
          <a:p>
            <a:r>
              <a:rPr lang="en-US"/>
              <a:t>Debt ownership verification issues, repeated attempts to collect debts not associated with customers</a:t>
            </a:r>
            <a:r>
              <a:rPr lang="en-US" dirty="0"/>
              <a:t>, and </a:t>
            </a:r>
            <a:r>
              <a:rPr lang="en-US"/>
              <a:t>communication and escalation concerns during collection processes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b="1">
                <a:latin typeface="Avenir Next LT Pro Demi" panose="020B0704020202020204" pitchFamily="34" charset="0"/>
              </a:rPr>
              <a:t>Operational gaps identified</a:t>
            </a:r>
            <a:endParaRPr lang="en-US" b="1" dirty="0">
              <a:latin typeface="Avenir Next LT Pro Demi" panose="020B0704020202020204" pitchFamily="34" charset="0"/>
            </a:endParaRPr>
          </a:p>
          <a:p>
            <a:r>
              <a:rPr lang="en-US"/>
              <a:t>Inconsistent validation procedures before collection activity, potential weaknesses in customer data governance, variability in complaint handling and escalation processes</a:t>
            </a:r>
            <a:r>
              <a:rPr lang="en-US" dirty="0"/>
              <a:t>, </a:t>
            </a:r>
            <a:r>
              <a:rPr lang="en-US"/>
              <a:t>and inconsistent communication </a:t>
            </a:r>
            <a:r>
              <a:rPr lang="en-US" dirty="0"/>
              <a:t>practices </a:t>
            </a:r>
            <a:r>
              <a:rPr lang="en-US"/>
              <a:t>across complaint scenarios.</a:t>
            </a:r>
            <a:br>
              <a:rPr lang="en-US"/>
            </a:br>
            <a:br>
              <a:rPr lang="en-US"/>
            </a:br>
            <a:r>
              <a:rPr lang="en-US" b="1">
                <a:latin typeface="Avenir Next LT Pro Demi" panose="020B0704020202020204" pitchFamily="34" charset="0"/>
              </a:rPr>
              <a:t>Key insight</a:t>
            </a:r>
            <a:endParaRPr lang="en-US" b="1" dirty="0">
              <a:latin typeface="Avenir Next LT Pro Demi" panose="020B0704020202020204" pitchFamily="34" charset="0"/>
            </a:endParaRPr>
          </a:p>
          <a:p>
            <a:r>
              <a:rPr lang="en-US"/>
              <a:t>Complaint activity is concentrated within a small number </a:t>
            </a:r>
            <a:r>
              <a:rPr lang="en-US" dirty="0"/>
              <a:t>of </a:t>
            </a:r>
            <a:r>
              <a:rPr lang="en-US"/>
              <a:t>operational processes, indicating targeted opportunities for operational improvement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4936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3153D-915E-B26E-77A0-B0A60D95B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7" y="1001715"/>
            <a:ext cx="4156761" cy="1874520"/>
          </a:xfrm>
        </p:spPr>
        <p:txBody>
          <a:bodyPr/>
          <a:lstStyle/>
          <a:p>
            <a:r>
              <a:rPr lang="en-US"/>
              <a:t>Pareto &amp; Lean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E6C73-4F90-26C9-3E52-B235190AEA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90628" y="3242950"/>
            <a:ext cx="4156760" cy="2232336"/>
          </a:xfrm>
        </p:spPr>
        <p:txBody>
          <a:bodyPr vert="horz" lIns="0" tIns="0" rIns="0" bIns="0" rtlCol="0" anchor="t">
            <a:normAutofit fontScale="92500" lnSpcReduction="10000"/>
          </a:bodyPr>
          <a:lstStyle/>
          <a:p>
            <a:r>
              <a:rPr lang="en-US"/>
              <a:t>Pareto analysis confirmed that a limited number of issue categories generated the majority of complaints, with debt collection workflows driving the highest concentration. Complaints peaked at 45 in 2015, then declined sharply to just 6 by 2018. A slight uptick to 12 complaints by 2020 indicates minor regression, but the overall downward trend demonstrates meaningful operational improvement and reduced process instability</a:t>
            </a:r>
            <a:r>
              <a:rPr lang="en-US" dirty="0"/>
              <a:t>.</a:t>
            </a:r>
          </a:p>
        </p:txBody>
      </p:sp>
      <p:pic>
        <p:nvPicPr>
          <p:cNvPr id="10" name="Picture Placeholder 9" descr="A yellow and grey road with arrows">
            <a:extLst>
              <a:ext uri="{FF2B5EF4-FFF2-40B4-BE49-F238E27FC236}">
                <a16:creationId xmlns:a16="http://schemas.microsoft.com/office/drawing/2014/main" id="{F9E6E0A0-3A40-E9A9-B05B-239765F5713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092952" y="0"/>
            <a:ext cx="6099048" cy="6858000"/>
          </a:xfrm>
        </p:spPr>
      </p:pic>
    </p:spTree>
    <p:extLst>
      <p:ext uri="{BB962C8B-B14F-4D97-AF65-F5344CB8AC3E}">
        <p14:creationId xmlns:p14="http://schemas.microsoft.com/office/powerpoint/2010/main" val="1472982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6221BB-99CE-8D2F-8FFB-9CBE5D3F7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634998"/>
            <a:ext cx="4528174" cy="3726813"/>
          </a:xfrm>
        </p:spPr>
        <p:txBody>
          <a:bodyPr anchor="t">
            <a:normAutofit fontScale="90000"/>
          </a:bodyPr>
          <a:lstStyle/>
          <a:p>
            <a:r>
              <a:rPr lang="en-US" sz="3300"/>
              <a:t>The organization demonstrably followed applicable laws and regulations only 51.97% of the time — a critical compliance gap that amplifies operational concentration risk, increases the probability of repeated complaint cycles, and elevates both reputational and regulatory exposure.</a:t>
            </a:r>
          </a:p>
        </p:txBody>
      </p:sp>
      <p:pic>
        <p:nvPicPr>
          <p:cNvPr id="15" name="Picture 14" descr="One in a crowd">
            <a:extLst>
              <a:ext uri="{FF2B5EF4-FFF2-40B4-BE49-F238E27FC236}">
                <a16:creationId xmlns:a16="http://schemas.microsoft.com/office/drawing/2014/main" id="{1396D0EB-1007-4940-57DE-2DD2F4B5E2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88" r="9898"/>
          <a:stretch>
            <a:fillRect/>
          </a:stretch>
        </p:blipFill>
        <p:spPr>
          <a:xfrm>
            <a:off x="5607050" y="10"/>
            <a:ext cx="6584950" cy="685799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7D380A-D367-F7D5-B33C-BF48998B963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Key insight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666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72092-1D93-1C42-71C9-4C3CD1035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7" y="634998"/>
            <a:ext cx="9810752" cy="1113477"/>
          </a:xfrm>
        </p:spPr>
        <p:txBody>
          <a:bodyPr>
            <a:normAutofit/>
          </a:bodyPr>
          <a:lstStyle/>
          <a:p>
            <a:r>
              <a:rPr lang="en-US"/>
              <a:t>Analysis metrics summary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9780BEB-FFD1-3971-F361-1B40A8D668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2556785"/>
              </p:ext>
            </p:extLst>
          </p:nvPr>
        </p:nvGraphicFramePr>
        <p:xfrm>
          <a:off x="1190625" y="2128838"/>
          <a:ext cx="9810752" cy="4679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2688">
                  <a:extLst>
                    <a:ext uri="{9D8B030D-6E8A-4147-A177-3AD203B41FA5}">
                      <a16:colId xmlns:a16="http://schemas.microsoft.com/office/drawing/2014/main" val="3168546316"/>
                    </a:ext>
                  </a:extLst>
                </a:gridCol>
                <a:gridCol w="2452688">
                  <a:extLst>
                    <a:ext uri="{9D8B030D-6E8A-4147-A177-3AD203B41FA5}">
                      <a16:colId xmlns:a16="http://schemas.microsoft.com/office/drawing/2014/main" val="3249273269"/>
                    </a:ext>
                  </a:extLst>
                </a:gridCol>
                <a:gridCol w="2452688">
                  <a:extLst>
                    <a:ext uri="{9D8B030D-6E8A-4147-A177-3AD203B41FA5}">
                      <a16:colId xmlns:a16="http://schemas.microsoft.com/office/drawing/2014/main" val="3338054882"/>
                    </a:ext>
                  </a:extLst>
                </a:gridCol>
                <a:gridCol w="2452688">
                  <a:extLst>
                    <a:ext uri="{9D8B030D-6E8A-4147-A177-3AD203B41FA5}">
                      <a16:colId xmlns:a16="http://schemas.microsoft.com/office/drawing/2014/main" val="2175169288"/>
                    </a:ext>
                  </a:extLst>
                </a:gridCol>
              </a:tblGrid>
              <a:tr h="584881">
                <a:tc>
                  <a:txBody>
                    <a:bodyPr/>
                    <a:lstStyle/>
                    <a:p>
                      <a:r>
                        <a:rPr lang="en-US" sz="1400" b="1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Avenir Next LT Pro Demi" panose="020B0704020202020204" pitchFamily="34" charset="0"/>
                        </a:rPr>
                        <a:t>Metric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Avenir Next LT Pro Demi" panose="020B0704020202020204" pitchFamily="34" charset="0"/>
                        </a:rPr>
                        <a:t>Value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Avenir Next LT Pro Demi" panose="020B0704020202020204" pitchFamily="34" charset="0"/>
                        </a:rPr>
                        <a:t>Assessment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Avenir Next LT Pro Demi" panose="020B0704020202020204" pitchFamily="34" charset="0"/>
                        </a:rPr>
                        <a:t>Priority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231172"/>
                  </a:ext>
                </a:extLst>
              </a:tr>
              <a:tr h="584881"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On-time response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&gt;99%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Strong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Monitor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441191"/>
                  </a:ext>
                </a:extLst>
              </a:tr>
              <a:tr h="584881"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Dispute rate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~15%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Needs improvement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High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558636"/>
                  </a:ext>
                </a:extLst>
              </a:tr>
              <a:tr h="584881"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Explanation-only resolutions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~29%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Below target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High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158448"/>
                  </a:ext>
                </a:extLst>
              </a:tr>
              <a:tr h="584881"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Primary complaint source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Debt collection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Concentrated risk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High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950618"/>
                  </a:ext>
                </a:extLst>
              </a:tr>
              <a:tr h="584881"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Geographic concentration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TX &amp; CA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Regional focus needed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Monitor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91396"/>
                  </a:ext>
                </a:extLst>
              </a:tr>
              <a:tr h="584881"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Process instability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Concentrated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Systemic risk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Critical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09739"/>
                  </a:ext>
                </a:extLst>
              </a:tr>
              <a:tr h="584881"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Legal compliance rate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51.97%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Critical concern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+mn-lt"/>
                        </a:rPr>
                        <a:t>Critical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195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5043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D1222-DF68-3EF6-416D-6E27FBD5A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5"/>
            <a:ext cx="3771899" cy="3360096"/>
          </a:xfrm>
        </p:spPr>
        <p:txBody>
          <a:bodyPr/>
          <a:lstStyle/>
          <a:p>
            <a:r>
              <a:rPr lang="en-US"/>
              <a:t>Recommendations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82F3E-2B5B-9638-6EC6-B7714347E0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55853" y="1001715"/>
            <a:ext cx="6202112" cy="5221284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>
                <a:latin typeface="Avenir Next LT Pro Demi" panose="020B0704020202020204" pitchFamily="34" charset="0"/>
              </a:rPr>
              <a:t>1. Strengthen debt validation controls</a:t>
            </a:r>
          </a:p>
          <a:p>
            <a:r>
              <a:rPr lang="en-US"/>
              <a:t>Introduce mandatory debt ownership verification prior to collection activity. Conduct periodic audits of customer debt records and account ownership data.</a:t>
            </a:r>
            <a:br>
              <a:rPr lang="en-US"/>
            </a:br>
            <a:br>
              <a:rPr lang="en-US"/>
            </a:br>
            <a:r>
              <a:rPr lang="en-US" b="1">
                <a:latin typeface="Avenir Next LT Pro Demi" panose="020B0704020202020204" pitchFamily="34" charset="0"/>
              </a:rPr>
              <a:t>2. Standardize complaint handling</a:t>
            </a:r>
          </a:p>
          <a:p>
            <a:r>
              <a:rPr lang="en-US"/>
              <a:t>Implement standardized escalation and resolution procedures. Improve consistency across complaint investigation workflows.</a:t>
            </a:r>
            <a:br>
              <a:rPr lang="en-US"/>
            </a:br>
            <a:br>
              <a:rPr lang="en-US"/>
            </a:br>
            <a:r>
              <a:rPr lang="en-US" b="1">
                <a:latin typeface="Avenir Next LT Pro Demi" panose="020B0704020202020204" pitchFamily="34" charset="0"/>
              </a:rPr>
              <a:t>3. Improve customer communication</a:t>
            </a:r>
          </a:p>
          <a:p>
            <a:r>
              <a:rPr lang="en-US"/>
              <a:t>Standardize compliant communication guidelines for collection interactions. Introduce agent training focused on customer engagement and regulatory expectations.</a:t>
            </a:r>
            <a:br>
              <a:rPr lang="en-US"/>
            </a:br>
            <a:br>
              <a:rPr lang="en-US"/>
            </a:br>
            <a:r>
              <a:rPr lang="en-US" b="1">
                <a:latin typeface="Avenir Next LT Pro Demi" panose="020B0704020202020204" pitchFamily="34" charset="0"/>
              </a:rPr>
              <a:t>4. Enhance RCA &amp; monitoring</a:t>
            </a:r>
          </a:p>
          <a:p>
            <a:r>
              <a:rPr lang="en-US"/>
              <a:t>Expand complaint categorization and root-cause tagging. Develop monitoring dashboards for high-risk categories.</a:t>
            </a:r>
            <a:br>
              <a:rPr lang="en-US"/>
            </a:br>
            <a:br>
              <a:rPr lang="en-US"/>
            </a:br>
            <a:r>
              <a:rPr lang="en-US" b="1">
                <a:latin typeface="Avenir Next LT Pro Demi" panose="020B0704020202020204" pitchFamily="34" charset="0"/>
              </a:rPr>
              <a:t>5. Regional monitoring</a:t>
            </a:r>
          </a:p>
          <a:p>
            <a:r>
              <a:rPr lang="en-US"/>
              <a:t>Perform targeted reviews in high-volume states such as Texas and California. Apply regional compliance reinforcement where required.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046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BD05B-626E-805B-3979-F4B5AD4C5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79" y="634998"/>
            <a:ext cx="8481399" cy="1494477"/>
          </a:xfrm>
        </p:spPr>
        <p:txBody>
          <a:bodyPr/>
          <a:lstStyle/>
          <a:p>
            <a:r>
              <a:rPr lang="en-US"/>
              <a:t>Consolidated data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4CB10-2DF4-DC09-AC0F-609BF11213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14604" y="2726190"/>
            <a:ext cx="3771900" cy="2749095"/>
          </a:xfrm>
        </p:spPr>
        <p:txBody>
          <a:bodyPr>
            <a:normAutofit fontScale="92500" lnSpcReduction="10000"/>
          </a:bodyPr>
          <a:lstStyle/>
          <a:p>
            <a:r>
              <a:rPr lang="en-US" b="1">
                <a:latin typeface="Avenir Next LT Pro Demi" panose="020B0704020202020204" pitchFamily="34" charset="0"/>
              </a:rPr>
              <a:t>Legal compliance</a:t>
            </a:r>
            <a:br>
              <a:rPr lang="en-US"/>
            </a:br>
            <a:r>
              <a:rPr lang="en-US"/>
              <a:t>Organization followed applicable laws only </a:t>
            </a:r>
            <a:r>
              <a:rPr lang="en-US" b="1"/>
              <a:t>51.97%</a:t>
            </a:r>
            <a:r>
              <a:rPr lang="en-US"/>
              <a:t> of the time.</a:t>
            </a:r>
            <a:br>
              <a:rPr lang="en-US"/>
            </a:br>
            <a:br>
              <a:rPr lang="en-US"/>
            </a:br>
            <a:r>
              <a:rPr lang="en-US" b="1">
                <a:latin typeface="Avenir Next LT Pro Demi" panose="020B0704020202020204" pitchFamily="34" charset="0"/>
              </a:rPr>
              <a:t>Top complaint source</a:t>
            </a:r>
            <a:br>
              <a:rPr lang="en-US"/>
            </a:br>
            <a:r>
              <a:rPr lang="en-US" b="1"/>
              <a:t>Debt collection</a:t>
            </a:r>
            <a:r>
              <a:rPr lang="en-US"/>
              <a:t> — continued attempts to collect debts not owed and communication tactics.</a:t>
            </a:r>
            <a:br>
              <a:rPr lang="en-US"/>
            </a:br>
            <a:br>
              <a:rPr lang="en-US"/>
            </a:br>
            <a:r>
              <a:rPr lang="en-US" b="1">
                <a:latin typeface="Avenir Next LT Pro Demi" panose="020B0704020202020204" pitchFamily="34" charset="0"/>
              </a:rPr>
              <a:t>Geographic hotspots</a:t>
            </a:r>
            <a:br>
              <a:rPr lang="en-US"/>
            </a:br>
            <a:r>
              <a:rPr lang="en-US" b="1"/>
              <a:t>Texas</a:t>
            </a:r>
            <a:r>
              <a:rPr lang="en-US"/>
              <a:t> and </a:t>
            </a:r>
            <a:r>
              <a:rPr lang="en-US" b="1"/>
              <a:t>California</a:t>
            </a:r>
            <a:r>
              <a:rPr lang="en-US"/>
              <a:t> recorded the highest complaint volumes.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E9B55B-919C-6C32-408E-D46E6B1DEA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24097" y="2726190"/>
            <a:ext cx="3777282" cy="2749095"/>
          </a:xfrm>
        </p:spPr>
        <p:txBody>
          <a:bodyPr>
            <a:normAutofit fontScale="92500" lnSpcReduction="20000"/>
          </a:bodyPr>
          <a:lstStyle/>
          <a:p>
            <a:r>
              <a:rPr lang="en-US" b="1">
                <a:latin typeface="Avenir Next LT Pro Demi" panose="020B0704020202020204" pitchFamily="34" charset="0"/>
              </a:rPr>
              <a:t>Complaint trend</a:t>
            </a:r>
            <a:br>
              <a:rPr lang="en-US"/>
            </a:br>
            <a:r>
              <a:rPr lang="en-US"/>
              <a:t>Peak of </a:t>
            </a:r>
            <a:r>
              <a:rPr lang="en-US" b="1"/>
              <a:t>45</a:t>
            </a:r>
            <a:r>
              <a:rPr lang="en-US"/>
              <a:t> in 2015 → </a:t>
            </a:r>
            <a:r>
              <a:rPr lang="en-US" b="1"/>
              <a:t>6</a:t>
            </a:r>
            <a:r>
              <a:rPr lang="en-US"/>
              <a:t> in 2018 → </a:t>
            </a:r>
            <a:r>
              <a:rPr lang="en-US" b="1"/>
              <a:t>12</a:t>
            </a:r>
            <a:r>
              <a:rPr lang="en-US"/>
              <a:t> in 2020. Overall improvement despite minor uptick.</a:t>
            </a:r>
            <a:br>
              <a:rPr lang="en-US"/>
            </a:br>
            <a:br>
              <a:rPr lang="en-US"/>
            </a:br>
            <a:r>
              <a:rPr lang="en-US" b="1">
                <a:latin typeface="Avenir Next LT Pro Demi" panose="020B0704020202020204" pitchFamily="34" charset="0"/>
              </a:rPr>
              <a:t>Resolution gaps</a:t>
            </a:r>
            <a:br>
              <a:rPr lang="en-US"/>
            </a:br>
            <a:r>
              <a:rPr lang="en-US" b="1"/>
              <a:t>15%</a:t>
            </a:r>
            <a:r>
              <a:rPr lang="en-US"/>
              <a:t> of resolutions disputed by consumers. </a:t>
            </a:r>
            <a:r>
              <a:rPr lang="en-US" b="1"/>
              <a:t>29%</a:t>
            </a:r>
            <a:r>
              <a:rPr lang="en-US"/>
              <a:t> resolved through explanation-only responses.</a:t>
            </a:r>
            <a:br>
              <a:rPr lang="en-US"/>
            </a:br>
            <a:br>
              <a:rPr lang="en-US"/>
            </a:br>
            <a:r>
              <a:rPr lang="en-US" b="1">
                <a:latin typeface="Avenir Next LT Pro Demi" panose="020B0704020202020204" pitchFamily="34" charset="0"/>
              </a:rPr>
              <a:t>On-time response</a:t>
            </a:r>
            <a:br>
              <a:rPr lang="en-US"/>
            </a:br>
            <a:r>
              <a:rPr lang="en-US"/>
              <a:t>Exceeded </a:t>
            </a:r>
            <a:r>
              <a:rPr lang="en-US" b="1"/>
              <a:t>99%</a:t>
            </a:r>
            <a:r>
              <a:rPr lang="en-US"/>
              <a:t> — a strong operational indicator.</a:t>
            </a:r>
          </a:p>
        </p:txBody>
      </p:sp>
    </p:spTree>
    <p:extLst>
      <p:ext uri="{BB962C8B-B14F-4D97-AF65-F5344CB8AC3E}">
        <p14:creationId xmlns:p14="http://schemas.microsoft.com/office/powerpoint/2010/main" val="2331559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499839-9666-B983-B7D3-39DC6EED6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877456"/>
            <a:ext cx="4328498" cy="4940661"/>
          </a:xfrm>
        </p:spPr>
        <p:txBody>
          <a:bodyPr anchor="t">
            <a:normAutofit/>
          </a:bodyPr>
          <a:lstStyle/>
          <a:p>
            <a:r>
              <a:rPr lang="en-US"/>
              <a:t>Expected outcomes</a:t>
            </a:r>
            <a:endParaRPr lang="en-US" dirty="0"/>
          </a:p>
        </p:txBody>
      </p:sp>
      <p:graphicFrame>
        <p:nvGraphicFramePr>
          <p:cNvPr id="8" name="Content Placeholder 7" descr="Flexible text blocks SmartArt graphic">
            <a:extLst>
              <a:ext uri="{FF2B5EF4-FFF2-40B4-BE49-F238E27FC236}">
                <a16:creationId xmlns:a16="http://schemas.microsoft.com/office/drawing/2014/main" id="{6A0FB4AC-43A1-7DCA-8353-FA16FC08C38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926192329"/>
              </p:ext>
            </p:extLst>
          </p:nvPr>
        </p:nvGraphicFramePr>
        <p:xfrm>
          <a:off x="5348911" y="877456"/>
          <a:ext cx="6209051" cy="5345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6706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 descr="A group of people walking in a subway">
            <a:extLst>
              <a:ext uri="{FF2B5EF4-FFF2-40B4-BE49-F238E27FC236}">
                <a16:creationId xmlns:a16="http://schemas.microsoft.com/office/drawing/2014/main" id="{AC034648-54BF-9F83-4240-FAD885A284F0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" r="58"/>
          <a:stretch/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BA87EA-8BB3-79C6-656A-1A8ABD658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6" y="3242949"/>
            <a:ext cx="6981822" cy="186657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DF94A-DA27-1E29-408E-F5360E814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5429" y="3242949"/>
            <a:ext cx="2442535" cy="1866575"/>
          </a:xfrm>
        </p:spPr>
        <p:txBody>
          <a:bodyPr/>
          <a:lstStyle/>
          <a:p>
            <a:r>
              <a:rPr lang="en-US"/>
              <a:t>Questions &amp; Discussion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732094"/>
      </p:ext>
    </p:extLst>
  </p:cSld>
  <p:clrMapOvr>
    <a:masterClrMapping/>
  </p:clrMapOvr>
</p:sld>
</file>

<file path=ppt/theme/theme1.xml><?xml version="1.0" encoding="utf-8"?>
<a:theme xmlns:a="http://schemas.openxmlformats.org/drawingml/2006/main" name="UrbanBlock_Finance">
  <a:themeElements>
    <a:clrScheme name="UrbanBlock_Finance 5">
      <a:dk1>
        <a:srgbClr val="000000"/>
      </a:dk1>
      <a:lt1>
        <a:srgbClr val="FFFFFF"/>
      </a:lt1>
      <a:dk2>
        <a:srgbClr val="FD5336"/>
      </a:dk2>
      <a:lt2>
        <a:srgbClr val="EDEBE6"/>
      </a:lt2>
      <a:accent1>
        <a:srgbClr val="FFD765"/>
      </a:accent1>
      <a:accent2>
        <a:srgbClr val="E9E5DB"/>
      </a:accent2>
      <a:accent3>
        <a:srgbClr val="B1933C"/>
      </a:accent3>
      <a:accent4>
        <a:srgbClr val="202020"/>
      </a:accent4>
      <a:accent5>
        <a:srgbClr val="1D567E"/>
      </a:accent5>
      <a:accent6>
        <a:srgbClr val="DBD7CE"/>
      </a:accent6>
      <a:hlink>
        <a:srgbClr val="45413A"/>
      </a:hlink>
      <a:folHlink>
        <a:srgbClr val="CD432B"/>
      </a:folHlink>
    </a:clrScheme>
    <a:fontScheme name="Custom 46">
      <a:majorFont>
        <a:latin typeface="Times New Roman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rban_Block_Finance_win32_KO_V8" id="{BEA0E2C9-6901-4166-9F82-F7DC2713C4F5}" vid="{8BD71FBC-4903-404D-8C28-795D8F512D7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DD590A-8042-4F36-843F-743A8DB178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4B9AF2-5B11-48FF-A8A8-964B2D972562}">
  <ds:schemaRefs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purl.org/dc/dcmitype/"/>
    <ds:schemaRef ds:uri="http://schemas.microsoft.com/sharepoint/v3"/>
    <ds:schemaRef ds:uri="230e9df3-be65-4c73-a93b-d1236ebd677e"/>
    <ds:schemaRef ds:uri="71af3243-3dd4-4a8d-8c0d-dd76da1f02a5"/>
    <ds:schemaRef ds:uri="http://schemas.microsoft.com/office/2006/documentManagement/types"/>
    <ds:schemaRef ds:uri="http://purl.org/dc/elements/1.1/"/>
    <ds:schemaRef ds:uri="http://schemas.microsoft.com/office/2006/metadata/properties"/>
    <ds:schemaRef ds:uri="16c05727-aa75-4e4a-9b5f-8a80a1165891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A05F0793-C6FF-4F7B-89E4-1C07E669E5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Urban block finance presentation</Template>
  <TotalTime>2905</TotalTime>
  <Words>772</Words>
  <Application>Microsoft Office PowerPoint</Application>
  <PresentationFormat>Widescreen</PresentationFormat>
  <Paragraphs>80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Avenir Next LT Pro</vt:lpstr>
      <vt:lpstr>Avenir Next LT Pro Demi</vt:lpstr>
      <vt:lpstr>Avenir Next LT Pro Light</vt:lpstr>
      <vt:lpstr>Times New Roman</vt:lpstr>
      <vt:lpstr>UrbanBlock_Finance</vt:lpstr>
      <vt:lpstr>CFPB Consumer Complaint Analysis</vt:lpstr>
      <vt:lpstr>Agenda</vt:lpstr>
      <vt:lpstr>Executive Summary</vt:lpstr>
      <vt:lpstr>Executive summary</vt:lpstr>
      <vt:lpstr>Key findings</vt:lpstr>
      <vt:lpstr>on-time response rate across all complaint categories</vt:lpstr>
      <vt:lpstr>Root cause analysis</vt:lpstr>
      <vt:lpstr>Root cause analysis findings</vt:lpstr>
      <vt:lpstr>Pareto &amp; Lean analysis</vt:lpstr>
      <vt:lpstr>Key insight</vt:lpstr>
      <vt:lpstr>Analysis metrics summary</vt:lpstr>
      <vt:lpstr>Recommendations</vt:lpstr>
      <vt:lpstr>Consolidated data summary</vt:lpstr>
      <vt:lpstr>Expected outcomes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Kwaku Zigli</dc:creator>
  <cp:lastModifiedBy>George Kwaku Zigli</cp:lastModifiedBy>
  <cp:revision>2</cp:revision>
  <dcterms:created xsi:type="dcterms:W3CDTF">2026-05-18T18:22:15Z</dcterms:created>
  <dcterms:modified xsi:type="dcterms:W3CDTF">2026-05-20T18:47:47Z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